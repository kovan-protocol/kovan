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 · PRODUCT DEMO</a:t>
            </a:r>
          </a:p>
          <a:p>
            <a:r>
              <a:t>This is the real dashboard UI captured in a browser check with API fixtures. The values are not chain activity or evidence of users. It is included to show the product surface, not to substitute for a transaction receipt.</a:t>
            </a:r>
          </a:p>
          <a:p>
            <a:r>
              <a:t>The screenshot was already present in /tmp/kovan-design-review-qQWT0a/dashboard-light-1440.png; the associated script intercepts /api/state and /api/events. For the stage demo, use the running dashboard and real testnet records, or an explicitly labeled replay.</a:t>
            </a:r>
          </a:p>
          <a:p>
            <a:r>
              <a:t>Prepare: funded testnet pool, approved payee, small cap, endpoint terms, explorer tabs, and backup recording. Use a fresh agent for repeat demos so spent caps and revocations do not invalidate the script.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 · HOW THE BOUNDARY WORKS</a:t>
            </a:r>
          </a:p>
          <a:p>
            <a:r>
              <a:t>The pool deploys an OpenZeppelin smart account with one context rule: the agent's External Ed25519 signer and the covenant policy. It has no management rule. The account cannot add a signer or remove the policy through an authorized self-call.</a:t>
            </a:r>
          </a:p>
          <a:p>
            <a:r>
              <a:t>The policy is a separate contract from the pool to avoid Soroban re-entry constraints. It checks approved token transfers and configured contract calls, caps, expiry and revocation. The verifier checks the agent's signature.</a:t>
            </a:r>
          </a:p>
          <a:p>
            <a:r>
              <a:t>Differentiation: Kovan combines shared allocation accounting, frozen agent accounts, narrower delegation and owner recovery. x402 is the payment transport; OpenZeppelin is the account primitive. They are foundations, not competitors Kovan replaces.</a:t>
            </a:r>
          </a:p>
          <a:p>
            <a:r>
              <a:t>For a stolen key: the attacker still operates within the permitted destinations and caps, but may exhaust those budgets. Revoke quickly. Recovery can only recover the remaining balance and depends on the allowance, contract execution and available chain state.</a:t>
            </a:r>
          </a:p>
          <a:p>
            <a:r>
              <a:t>Official reference: https://docs.openzeppelin.com/stellar-contracts/accounts/policies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 · ACCOUNTING</a:t>
            </a:r>
          </a:p>
          <a:p>
            <a:r>
              <a:t>For v2, locked is an accounting total: actual pool cash plus outstanding agent advances. It is not simply the pool's cash balance. sum_limits is the draw limit total for non-closed agents, and available funds are locked minus sum_limits.</a:t>
            </a:r>
          </a:p>
          <a:p>
            <a:r>
              <a:t>Closing an agent freezes spending, pulls back its balance, records unrecovered advances as settled_spent and releases unused allocation. Spent funding cannot be counted twice. A child returns only unused allocation to its parent, and children close first.</a:t>
            </a:r>
          </a:p>
          <a:p>
            <a:r>
              <a:t>The example assumes a 10-USDC allocation drawn in full, 3 spent and 7 left in the wallet. A raw transfer to the pool is an unattributed deposit; use return_funds for the agent's reconciliation history.</a:t>
            </a:r>
          </a:p>
          <a:p>
            <a:r>
              <a:t>Permanent pool closure requires zero open agents, allocations and advances, and returns remaining pool cash to the original owner. Historical records remain. Source: 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 · COMPLETENESS WITHOUT OVERCLAIMING</a:t>
            </a:r>
          </a:p>
          <a:p>
            <a:r>
              <a:t>Current default deployment: cash-only pool v2. Historical USDC x402 evidence and isolated v2 lifecycle evidence are linked in the evidence slide.</a:t>
            </a:r>
          </a:p>
          <a:p>
            <a:r>
              <a:t>Native Kovan mandates: released on testnet on 2026-10-26 (policy CAQAHBSHKEUQCXUMFCD65GNRTKDNE5A7HOHA7XVOKVKTV4H4O63OWJYB; new pools use the release) and rehearsed end to end on an isolated pool with a direct payment. Facilitator acceptance of the mandate envelope over x402 is not yet rehearsed. They add owner-approved exact/budget grants, payment IDs, expiry and receipts, and intersect with covenant limits. They are not AP2 signed credentials, MCP, A2A, escrow or delivery verification. New compatible contracts and agents plus a funded facilitator rehearsal are required.</a:t>
            </a:r>
          </a:p>
          <a:p>
            <a:r>
              <a:t>Yield v3: locally tested, not deployed/activated. Supports one compatible single-asset DeFindex vault and transferable shares using the exact pool asset. Cash is used before redemption. Backing discounts estimated vault value by 10%; this buffer is not insurance. Losses or unavailable liquidity may stop draws. No APY or live yield claim.</a:t>
            </a:r>
          </a:p>
          <a:p>
            <a:r>
              <a:t>SDK: @kovan-protocol/sdk@0.1.0 is published on npm. Agent guides/plugin and owner signing flows exist.</a:t>
            </a:r>
          </a:p>
          <a:p>
            <a:r>
              <a:t>General contract-call allowlisting is not equivalent to a completed Blend/Soroswap integration. No broad claims about MPP/AP2/A2A or reputation implementations.</a:t>
            </a:r>
          </a:p>
          <a:p>
            <a:r>
              <a:t>This is a status snapshot from the repository, not a deployment verification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 · EVIDENCE REGISTER</a:t>
            </a:r>
          </a:p>
          <a:p>
            <a:r>
              <a:t>Test count is 152 Rust + 267 dashboard + 79 SDK + 49 signer = 547, run on main on 2026-10-26 (README, Testing). It includes the released mandates and the unactivated yield work, and excludes an optional ignored external fixture test. It does not establish an audit or a live production deployment.</a:t>
            </a:r>
          </a:p>
          <a:p>
            <a:r>
              <a:t>Legacy USDC x402 payment: https://stellar.expert/explorer/testnet/tx/781a5f2b560df66d3d6c587ef4f2a283e82421ce16b54565a9a64a8ba662775d</a:t>
            </a:r>
          </a:p>
          <a:p>
            <a:r>
              <a:t>Legacy USDC direct payment: https://stellar.expert/explorer/testnet/tx/263d05036ee5bcc7520cef1dc39fb36a85ab4c90d5eda2caa5a62e7d2b0f4fb0</a:t>
            </a:r>
          </a:p>
          <a:p>
            <a:r>
              <a:t>Legacy USDC return: https://stellar.expert/explorer/testnet/tx/c455d6a3229fe29f82ecd00d26de2d0c86ee76f365a8230bb96b153db71665b3</a:t>
            </a:r>
          </a:p>
          <a:p>
            <a:r>
              <a:t>Current default v2 deployment: https://stellar.expert/explorer/testnet/tx/b2b2f1f8fd3911504f91a5d9f959ffdb61a24e1b9a9fa9c29b56965eb26074f5</a:t>
            </a:r>
          </a:p>
          <a:p>
            <a:r>
              <a:t>Separate isolated v2 XLM agent closure: https://stellar.expert/explorer/testnet/tx/4d1eb6b875096c799aefc9bbb6e7a50ce201e85a8330517c9fc4ea02a66969f4</a:t>
            </a:r>
          </a:p>
          <a:p>
            <a:r>
              <a:t>Separate isolated v2 XLM pool shutdown: https://stellar.expert/explorer/testnet/tx/0a8d81a9006b5a53ec6676e0df72a99d0ce6a30812b65f075631db097accc0ae</a:t>
            </a:r>
          </a:p>
          <a:p>
            <a:r>
              <a:t>Sources: README.md, docs/SDK.md, docs/MANDATES.md. Contract records were not independently re-queried in this deck task. Testnet history can reset.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 · INTEGRATION / PATH TO USERS</a:t>
            </a:r>
          </a:p>
          <a:p>
            <a:r>
              <a:t>The agent guide and Claude Code plugin let an agent prepare owner transactions using kovan.mjs. Owner approvals are signed in Freighter through local or hosted signing interfaces. Runtime agents may supply their own public keys; app-managed keys are an optional convenience and the app retains its signing copy even after export.</a:t>
            </a:r>
          </a:p>
          <a:p>
            <a:r>
              <a:t>The package name is @kovan-protocol/sdk, not @kovan/sdk. It is a local TypeScript/ESM package; do not show npm install as a published workflow until a package is actually released. Applications supply their own configuration and signers.</a:t>
            </a:r>
          </a:p>
          <a:p>
            <a:r>
              <a:t>Go-to-market hypothesis: start with developers already running x402 API agents, publish reproducible examples, onboard pilot teams and measure useful paid tasks and repeat usage. No revenue, customer count or committed commercial model is asserted. A possible future business is hosted operations and monitoring; validate willingness to pay before putting pricing on a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G · TWO-SENTENCE ANSWERS</a:t>
            </a:r>
          </a:p>
          <a:p>
            <a:r>
              <a:t>“Why not just x402?” x402 carries the payment request and settlement authorization. Kovan constrains who may be paid and how much, and coordinates many agents against one shared pool.</a:t>
            </a:r>
          </a:p>
          <a:p>
            <a:r>
              <a:t>“Why not a standard wallet?” A raw signing key can authorize transfers from a classic account without Kovan's application policy. Kovan puts the restrictions in the smart account's authorization path, together with pool allocation accounting and recovery.</a:t>
            </a:r>
          </a:p>
          <a:p>
            <a:r>
              <a:t>“What if the key is stolen?” The attacker remains subject to the approved payees, caps, expiry and revocation. The owner can revoke and recover the remaining funds, but a permitted payment can still be wasteful.</a:t>
            </a:r>
          </a:p>
          <a:p>
            <a:r>
              <a:t>“Who holds keys?” Owners sign with their own wallet; runtime agents can supply their own signing keys. App-managed mode retains an application-side signing copy, so avoid a blanket claim that Kovan never holds any agent key.</a:t>
            </a:r>
          </a:p>
          <a:p>
            <a:r>
              <a:t>“Why blockchain?” The recipient, asset and amount can be checked at the same execution boundary that moves the funds. The public settlement record makes those controls inspectable independently of the agent prompt and UI.</a:t>
            </a:r>
          </a:p>
          <a:p>
            <a:r>
              <a:t>“Can you guarantee recovery?” Recovery does not reverse settled payments and depends on the token allowance and executable chain state. The default recovery allowance is valid for 3,000,000 ledgers from account creation.</a:t>
            </a:r>
          </a:p>
          <a:p>
            <a:r>
              <a:t>“What about yield?” Yield is an opt-in, locally tested DeFindex integration, currently inactive. Vault losses and liquidity constraints can prevent draws; the 10% backing discount is not insurance.</a:t>
            </a:r>
          </a:p>
          <a:p>
            <a:r>
              <a:t>“What would prove demand?” Onboard developers who already pay for agent inputs and track completed paid tasks and repeat use. The pitch currently demonstrates technical capability, not proven product-market fit.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stellar.expert/explorer/testnet/tx/781a5f2b560df66d3d6c587ef4f2a283e82421ce16b54565a9a64a8ba662775d" TargetMode="External"/><Relationship Id="rId4" Type="http://schemas.openxmlformats.org/officeDocument/2006/relationships/hyperlink" Target="https://github.com/kovan-protocol/kovan/blob/main/docs/SDK.md" TargetMode="External"/><Relationship Id="rId5" Type="http://schemas.openxmlformats.org/officeDocument/2006/relationships/hyperlink" Target="https://github.com/kovan-protocol/kovan#testnet-transaction-evidence" TargetMode="Externa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kovan-protocol.vercel.app/agent.md"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01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A / PRODUCT DEMO</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184"/>
              </a:lnSpc>
              <a:spcBef>
                <a:spcPts val="0"/>
              </a:spcBef>
              <a:spcAft>
                <a:spcPts val="0"/>
              </a:spcAft>
            </a:pPr>
            <a:r>
              <a:rPr sz="4800" b="1">
                <a:solidFill>
                  <a:srgbClr val="151A24"/>
                </a:solidFill>
                <a:latin typeface="Manrope"/>
              </a:rPr>
              <a:t>The owner’s control surface.</a:t>
            </a:r>
          </a:p>
        </p:txBody>
      </p:sp>
      <p:pic>
        <p:nvPicPr>
          <p:cNvPr id="13" name="Picture 12" descr="dashboard-fixture.png"/>
          <p:cNvPicPr>
            <a:picLocks noChangeAspect="1"/>
          </p:cNvPicPr>
          <p:nvPr/>
        </p:nvPicPr>
        <p:blipFill>
          <a:blip r:embed="rId3"/>
          <a:stretch>
            <a:fillRect/>
          </a:stretch>
        </p:blipFill>
        <p:spPr>
          <a:xfrm>
            <a:off x="777240" y="3163824"/>
            <a:ext cx="8503920" cy="5907024"/>
          </a:xfrm>
          <a:prstGeom prst="rect">
            <a:avLst/>
          </a:prstGeom>
        </p:spPr>
      </p:pic>
      <p:sp>
        <p:nvSpPr>
          <p:cNvPr id="14" name="Rounded Rectangle 13"/>
          <p:cNvSpPr/>
          <p:nvPr/>
        </p:nvSpPr>
        <p:spPr>
          <a:xfrm>
            <a:off x="10488168" y="3163824"/>
            <a:ext cx="7068312" cy="5440680"/>
          </a:xfrm>
          <a:prstGeom prst="roundRect">
            <a:avLst>
              <a:gd name="adj" fmla="val 168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881360" y="3566160"/>
            <a:ext cx="621792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REHEARSAL CHECKLIST</a:t>
            </a:r>
          </a:p>
        </p:txBody>
      </p:sp>
      <p:sp>
        <p:nvSpPr>
          <p:cNvPr id="16" name="TextBox 15"/>
          <p:cNvSpPr txBox="1"/>
          <p:nvPr/>
        </p:nvSpPr>
        <p:spPr>
          <a:xfrm>
            <a:off x="10881360" y="4251960"/>
            <a:ext cx="6263640" cy="548640"/>
          </a:xfrm>
          <a:prstGeom prst="rect">
            <a:avLst/>
          </a:prstGeom>
          <a:noFill/>
        </p:spPr>
        <p:txBody>
          <a:bodyPr wrap="none" lIns="0" rIns="0" tIns="0" bIns="0" anchor="t">
            <a:spAutoFit/>
          </a:bodyPr>
          <a:lstStyle/>
          <a:p>
            <a:pPr algn="l">
              <a:lnSpc>
                <a:spcPts val="3422"/>
              </a:lnSpc>
              <a:spcBef>
                <a:spcPts val="0"/>
              </a:spcBef>
              <a:spcAft>
                <a:spcPts val="0"/>
              </a:spcAft>
            </a:pPr>
            <a:r>
              <a:rPr sz="2900" b="1">
                <a:solidFill>
                  <a:srgbClr val="151A24"/>
                </a:solidFill>
                <a:latin typeface="Manrope"/>
              </a:rPr>
              <a:t>1. Inspect the rules</a:t>
            </a:r>
          </a:p>
        </p:txBody>
      </p:sp>
      <p:sp>
        <p:nvSpPr>
          <p:cNvPr id="17" name="TextBox 16"/>
          <p:cNvSpPr txBox="1"/>
          <p:nvPr/>
        </p:nvSpPr>
        <p:spPr>
          <a:xfrm>
            <a:off x="10881360" y="4864608"/>
            <a:ext cx="6263640" cy="50292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Show payee, cap and expiry.</a:t>
            </a:r>
          </a:p>
        </p:txBody>
      </p:sp>
      <p:sp>
        <p:nvSpPr>
          <p:cNvPr id="18" name="TextBox 17"/>
          <p:cNvSpPr txBox="1"/>
          <p:nvPr/>
        </p:nvSpPr>
        <p:spPr>
          <a:xfrm>
            <a:off x="10881360" y="5486400"/>
            <a:ext cx="6263640" cy="548640"/>
          </a:xfrm>
          <a:prstGeom prst="rect">
            <a:avLst/>
          </a:prstGeom>
          <a:noFill/>
        </p:spPr>
        <p:txBody>
          <a:bodyPr wrap="none" lIns="0" rIns="0" tIns="0" bIns="0" anchor="t">
            <a:spAutoFit/>
          </a:bodyPr>
          <a:lstStyle/>
          <a:p>
            <a:pPr algn="l">
              <a:lnSpc>
                <a:spcPts val="3422"/>
              </a:lnSpc>
              <a:spcBef>
                <a:spcPts val="0"/>
              </a:spcBef>
              <a:spcAft>
                <a:spcPts val="0"/>
              </a:spcAft>
            </a:pPr>
            <a:r>
              <a:rPr sz="2900" b="1">
                <a:solidFill>
                  <a:srgbClr val="151A24"/>
                </a:solidFill>
                <a:latin typeface="Manrope"/>
              </a:rPr>
              <a:t>2. Show the receipt</a:t>
            </a:r>
          </a:p>
        </p:txBody>
      </p:sp>
      <p:sp>
        <p:nvSpPr>
          <p:cNvPr id="19" name="TextBox 18"/>
          <p:cNvSpPr txBox="1"/>
          <p:nvPr/>
        </p:nvSpPr>
        <p:spPr>
          <a:xfrm>
            <a:off x="10881360" y="6099048"/>
            <a:ext cx="6263640" cy="50292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Open the explorer transaction.</a:t>
            </a:r>
          </a:p>
        </p:txBody>
      </p:sp>
      <p:sp>
        <p:nvSpPr>
          <p:cNvPr id="20" name="TextBox 19"/>
          <p:cNvSpPr txBox="1"/>
          <p:nvPr/>
        </p:nvSpPr>
        <p:spPr>
          <a:xfrm>
            <a:off x="10881360" y="6720840"/>
            <a:ext cx="6263640" cy="548640"/>
          </a:xfrm>
          <a:prstGeom prst="rect">
            <a:avLst/>
          </a:prstGeom>
          <a:noFill/>
        </p:spPr>
        <p:txBody>
          <a:bodyPr wrap="none" lIns="0" rIns="0" tIns="0" bIns="0" anchor="t">
            <a:spAutoFit/>
          </a:bodyPr>
          <a:lstStyle/>
          <a:p>
            <a:pPr algn="l">
              <a:lnSpc>
                <a:spcPts val="3422"/>
              </a:lnSpc>
              <a:spcBef>
                <a:spcPts val="0"/>
              </a:spcBef>
              <a:spcAft>
                <a:spcPts val="0"/>
              </a:spcAft>
            </a:pPr>
            <a:r>
              <a:rPr sz="2900" b="1">
                <a:solidFill>
                  <a:srgbClr val="151A24"/>
                </a:solidFill>
                <a:latin typeface="Manrope"/>
              </a:rPr>
              <a:t>3. Trigger a refusal</a:t>
            </a:r>
          </a:p>
        </p:txBody>
      </p:sp>
      <p:sp>
        <p:nvSpPr>
          <p:cNvPr id="21" name="TextBox 20"/>
          <p:cNvSpPr txBox="1"/>
          <p:nvPr/>
        </p:nvSpPr>
        <p:spPr>
          <a:xfrm>
            <a:off x="10881360" y="7333488"/>
            <a:ext cx="6263640" cy="50292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Explain why no funds move.</a:t>
            </a:r>
          </a:p>
        </p:txBody>
      </p:sp>
      <p:sp>
        <p:nvSpPr>
          <p:cNvPr id="22" name="TextBox 21"/>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Actual dashboard UI from a browser check; balances and agent state are illustrative test fixtures, not live funds.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02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B / AUTHORIZATION BOUNDARY</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184"/>
              </a:lnSpc>
              <a:spcBef>
                <a:spcPts val="0"/>
              </a:spcBef>
              <a:spcAft>
                <a:spcPts val="0"/>
              </a:spcAft>
            </a:pPr>
            <a:r>
              <a:rPr sz="4800" b="1">
                <a:solidFill>
                  <a:srgbClr val="151A24"/>
                </a:solidFill>
                <a:latin typeface="Manrope"/>
              </a:rPr>
              <a:t>A policy the agent cannot remove.</a:t>
            </a:r>
          </a:p>
        </p:txBody>
      </p:sp>
      <p:sp>
        <p:nvSpPr>
          <p:cNvPr id="13" name="TextBox 12"/>
          <p:cNvSpPr txBox="1"/>
          <p:nvPr/>
        </p:nvSpPr>
        <p:spPr>
          <a:xfrm>
            <a:off x="777240" y="3520440"/>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01</a:t>
            </a:r>
          </a:p>
        </p:txBody>
      </p:sp>
      <p:sp>
        <p:nvSpPr>
          <p:cNvPr id="14" name="TextBox 13"/>
          <p:cNvSpPr txBox="1"/>
          <p:nvPr/>
        </p:nvSpPr>
        <p:spPr>
          <a:xfrm>
            <a:off x="777240" y="4206240"/>
            <a:ext cx="5303520" cy="640080"/>
          </a:xfrm>
          <a:prstGeom prst="rect">
            <a:avLst/>
          </a:prstGeom>
          <a:noFill/>
        </p:spPr>
        <p:txBody>
          <a:bodyPr wrap="none" lIns="0" rIns="0" tIns="0" bIns="0" anchor="t">
            <a:spAutoFit/>
          </a:bodyPr>
          <a:lstStyle/>
          <a:p>
            <a:pPr algn="l">
              <a:lnSpc>
                <a:spcPts val="4011"/>
              </a:lnSpc>
              <a:spcBef>
                <a:spcPts val="0"/>
              </a:spcBef>
              <a:spcAft>
                <a:spcPts val="0"/>
              </a:spcAft>
            </a:pPr>
            <a:r>
              <a:rPr sz="3400" b="1">
                <a:solidFill>
                  <a:srgbClr val="151A24"/>
                </a:solidFill>
                <a:latin typeface="Manrope"/>
              </a:rPr>
              <a:t>Agent signs</a:t>
            </a:r>
          </a:p>
        </p:txBody>
      </p:sp>
      <p:sp>
        <p:nvSpPr>
          <p:cNvPr id="15" name="TextBox 14"/>
          <p:cNvSpPr txBox="1"/>
          <p:nvPr/>
        </p:nvSpPr>
        <p:spPr>
          <a:xfrm>
            <a:off x="777240" y="4937760"/>
            <a:ext cx="530352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Its own Ed25519 key.</a:t>
            </a:r>
          </a:p>
        </p:txBody>
      </p:sp>
      <p:cxnSp>
        <p:nvCxnSpPr>
          <p:cNvPr id="16" name="Connector 15"/>
          <p:cNvCxnSpPr/>
          <p:nvPr/>
        </p:nvCxnSpPr>
        <p:spPr>
          <a:xfrm>
            <a:off x="5852159" y="4480560"/>
            <a:ext cx="411481"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17" name="Freeform 16"/>
          <p:cNvSpPr/>
          <p:nvPr/>
        </p:nvSpPr>
        <p:spPr>
          <a:xfrm>
            <a:off x="6163055" y="4420209"/>
            <a:ext cx="100585" cy="120701"/>
          </a:xfrm>
          <a:custGeom>
            <a:avLst/>
            <a:gdLst/>
            <a:ahLst/>
            <a:cxnLst/>
            <a:rect l="l" t="t" r="r" b="b"/>
            <a:pathLst>
              <a:path w="100585" h="120701">
                <a:moveTo>
                  <a:pt x="100585"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92240" y="3520440"/>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02</a:t>
            </a:r>
          </a:p>
        </p:txBody>
      </p:sp>
      <p:sp>
        <p:nvSpPr>
          <p:cNvPr id="19" name="TextBox 18"/>
          <p:cNvSpPr txBox="1"/>
          <p:nvPr/>
        </p:nvSpPr>
        <p:spPr>
          <a:xfrm>
            <a:off x="6492240" y="4206240"/>
            <a:ext cx="5303520" cy="640080"/>
          </a:xfrm>
          <a:prstGeom prst="rect">
            <a:avLst/>
          </a:prstGeom>
          <a:noFill/>
        </p:spPr>
        <p:txBody>
          <a:bodyPr wrap="none" lIns="0" rIns="0" tIns="0" bIns="0" anchor="t">
            <a:spAutoFit/>
          </a:bodyPr>
          <a:lstStyle/>
          <a:p>
            <a:pPr algn="l">
              <a:lnSpc>
                <a:spcPts val="4011"/>
              </a:lnSpc>
              <a:spcBef>
                <a:spcPts val="0"/>
              </a:spcBef>
              <a:spcAft>
                <a:spcPts val="0"/>
              </a:spcAft>
            </a:pPr>
            <a:r>
              <a:rPr sz="3400" b="1">
                <a:solidFill>
                  <a:srgbClr val="151A24"/>
                </a:solidFill>
                <a:latin typeface="Manrope"/>
              </a:rPr>
              <a:t>Account verifies</a:t>
            </a:r>
          </a:p>
        </p:txBody>
      </p:sp>
      <p:sp>
        <p:nvSpPr>
          <p:cNvPr id="20" name="TextBox 19"/>
          <p:cNvSpPr txBox="1"/>
          <p:nvPr/>
        </p:nvSpPr>
        <p:spPr>
          <a:xfrm>
            <a:off x="6492240" y="4937760"/>
            <a:ext cx="530352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Signature + covenant.</a:t>
            </a:r>
          </a:p>
        </p:txBody>
      </p:sp>
      <p:cxnSp>
        <p:nvCxnSpPr>
          <p:cNvPr id="21" name="Connector 20"/>
          <p:cNvCxnSpPr/>
          <p:nvPr/>
        </p:nvCxnSpPr>
        <p:spPr>
          <a:xfrm>
            <a:off x="11567159" y="4480560"/>
            <a:ext cx="411481"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22" name="Freeform 21"/>
          <p:cNvSpPr/>
          <p:nvPr/>
        </p:nvSpPr>
        <p:spPr>
          <a:xfrm>
            <a:off x="11878056" y="4420209"/>
            <a:ext cx="100584" cy="120701"/>
          </a:xfrm>
          <a:custGeom>
            <a:avLst/>
            <a:gdLst/>
            <a:ahLst/>
            <a:cxnLst/>
            <a:rect l="l" t="t" r="r" b="b"/>
            <a:pathLst>
              <a:path w="100584" h="120701">
                <a:moveTo>
                  <a:pt x="100584"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2207240" y="3520440"/>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03</a:t>
            </a:r>
          </a:p>
        </p:txBody>
      </p:sp>
      <p:sp>
        <p:nvSpPr>
          <p:cNvPr id="24" name="TextBox 23"/>
          <p:cNvSpPr txBox="1"/>
          <p:nvPr/>
        </p:nvSpPr>
        <p:spPr>
          <a:xfrm>
            <a:off x="12207240" y="4206240"/>
            <a:ext cx="5303520" cy="640080"/>
          </a:xfrm>
          <a:prstGeom prst="rect">
            <a:avLst/>
          </a:prstGeom>
          <a:noFill/>
        </p:spPr>
        <p:txBody>
          <a:bodyPr wrap="none" lIns="0" rIns="0" tIns="0" bIns="0" anchor="t">
            <a:spAutoFit/>
          </a:bodyPr>
          <a:lstStyle/>
          <a:p>
            <a:pPr algn="l">
              <a:lnSpc>
                <a:spcPts val="4011"/>
              </a:lnSpc>
              <a:spcBef>
                <a:spcPts val="0"/>
              </a:spcBef>
              <a:spcAft>
                <a:spcPts val="0"/>
              </a:spcAft>
            </a:pPr>
            <a:r>
              <a:rPr sz="3400" b="1">
                <a:solidFill>
                  <a:srgbClr val="151A24"/>
                </a:solidFill>
                <a:latin typeface="Manrope"/>
              </a:rPr>
              <a:t>Call executes</a:t>
            </a:r>
          </a:p>
        </p:txBody>
      </p:sp>
      <p:sp>
        <p:nvSpPr>
          <p:cNvPr id="25" name="TextBox 24"/>
          <p:cNvSpPr txBox="1"/>
          <p:nvPr/>
        </p:nvSpPr>
        <p:spPr>
          <a:xfrm>
            <a:off x="12207240" y="4937760"/>
            <a:ext cx="530352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Only inside the rules.</a:t>
            </a:r>
          </a:p>
        </p:txBody>
      </p:sp>
      <p:cxnSp>
        <p:nvCxnSpPr>
          <p:cNvPr id="26" name="Connector 25"/>
          <p:cNvCxnSpPr/>
          <p:nvPr/>
        </p:nvCxnSpPr>
        <p:spPr>
          <a:xfrm>
            <a:off x="777240" y="6035040"/>
            <a:ext cx="16779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77240" y="6492240"/>
            <a:ext cx="77724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FIXED AT CREATION</a:t>
            </a:r>
          </a:p>
        </p:txBody>
      </p:sp>
      <p:sp>
        <p:nvSpPr>
          <p:cNvPr id="28" name="TextBox 27"/>
          <p:cNvSpPr txBox="1"/>
          <p:nvPr/>
        </p:nvSpPr>
        <p:spPr>
          <a:xfrm>
            <a:off x="777240" y="7086600"/>
            <a:ext cx="8229600" cy="137160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151A24"/>
                </a:solidFill>
                <a:latin typeface="Inter"/>
              </a:rPr>
              <a:t>Signer, allowlists, policy binding.</a:t>
            </a:r>
          </a:p>
          <a:p>
            <a:pPr algn="l">
              <a:lnSpc>
                <a:spcPts val="3304"/>
              </a:lnSpc>
              <a:spcBef>
                <a:spcPts val="0"/>
              </a:spcBef>
              <a:spcAft>
                <a:spcPts val="0"/>
              </a:spcAft>
            </a:pPr>
            <a:r>
              <a:rPr sz="2800" b="0">
                <a:solidFill>
                  <a:srgbClr val="151A24"/>
                </a:solidFill>
                <a:latin typeface="Inter"/>
              </a:rPr>
              <a:t>No management rule to remove them.</a:t>
            </a:r>
          </a:p>
        </p:txBody>
      </p:sp>
      <p:sp>
        <p:nvSpPr>
          <p:cNvPr id="29" name="TextBox 28"/>
          <p:cNvSpPr txBox="1"/>
          <p:nvPr/>
        </p:nvSpPr>
        <p:spPr>
          <a:xfrm>
            <a:off x="9692640" y="6492240"/>
            <a:ext cx="786384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OWNER CONTROLS</a:t>
            </a:r>
          </a:p>
        </p:txBody>
      </p:sp>
      <p:sp>
        <p:nvSpPr>
          <p:cNvPr id="30" name="TextBox 29"/>
          <p:cNvSpPr txBox="1"/>
          <p:nvPr/>
        </p:nvSpPr>
        <p:spPr>
          <a:xfrm>
            <a:off x="9692640" y="7086600"/>
            <a:ext cx="7863840" cy="137160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151A24"/>
                </a:solidFill>
                <a:latin typeface="Inter"/>
              </a:rPr>
              <a:t>Numeric limits, expiry, revocation.</a:t>
            </a:r>
          </a:p>
          <a:p>
            <a:pPr algn="l">
              <a:lnSpc>
                <a:spcPts val="3304"/>
              </a:lnSpc>
              <a:spcBef>
                <a:spcPts val="0"/>
              </a:spcBef>
              <a:spcAft>
                <a:spcPts val="0"/>
              </a:spcAft>
            </a:pPr>
            <a:r>
              <a:rPr sz="2800" b="0">
                <a:solidFill>
                  <a:srgbClr val="151A24"/>
                </a:solidFill>
                <a:latin typeface="Inter"/>
              </a:rPr>
              <a:t>Recovery without the agent’s key.</a:t>
            </a:r>
          </a:p>
        </p:txBody>
      </p:sp>
      <p:sp>
        <p:nvSpPr>
          <p:cNvPr id="31" name="TextBox 30"/>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Source: README.md and agent-account/covenant-policy implementation. Recovery remains subject to the token allowance.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03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C / POOL ACCOUNTING</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4968"/>
              </a:lnSpc>
              <a:spcBef>
                <a:spcPts val="0"/>
              </a:spcBef>
              <a:spcAft>
                <a:spcPts val="0"/>
              </a:spcAft>
            </a:pPr>
            <a:r>
              <a:rPr sz="4600" b="1">
                <a:solidFill>
                  <a:srgbClr val="151A24"/>
                </a:solidFill>
                <a:latin typeface="Manrope"/>
              </a:rPr>
              <a:t>Spent funds never become a new budget.</a:t>
            </a:r>
          </a:p>
        </p:txBody>
      </p:sp>
      <p:sp>
        <p:nvSpPr>
          <p:cNvPr id="13" name="TextBox 12"/>
          <p:cNvSpPr txBox="1"/>
          <p:nvPr/>
        </p:nvSpPr>
        <p:spPr>
          <a:xfrm>
            <a:off x="777240" y="3063240"/>
            <a:ext cx="16642080" cy="640080"/>
          </a:xfrm>
          <a:prstGeom prst="rect">
            <a:avLst/>
          </a:prstGeom>
          <a:noFill/>
        </p:spPr>
        <p:txBody>
          <a:bodyPr wrap="none" lIns="0" rIns="0" tIns="0" bIns="0" anchor="t">
            <a:spAutoFit/>
          </a:bodyPr>
          <a:lstStyle/>
          <a:p>
            <a:pPr algn="l">
              <a:lnSpc>
                <a:spcPts val="3776"/>
              </a:lnSpc>
              <a:spcBef>
                <a:spcPts val="0"/>
              </a:spcBef>
              <a:spcAft>
                <a:spcPts val="0"/>
              </a:spcAft>
            </a:pPr>
            <a:r>
              <a:rPr sz="3200" b="0">
                <a:solidFill>
                  <a:srgbClr val="626977"/>
                </a:solidFill>
                <a:latin typeface="Inter"/>
              </a:rPr>
              <a:t>Example: one agent draws 10 USDC and spends 3.</a:t>
            </a:r>
          </a:p>
        </p:txBody>
      </p:sp>
      <p:sp>
        <p:nvSpPr>
          <p:cNvPr id="14" name="TextBox 13"/>
          <p:cNvSpPr txBox="1"/>
          <p:nvPr/>
        </p:nvSpPr>
        <p:spPr>
          <a:xfrm>
            <a:off x="777240" y="4297680"/>
            <a:ext cx="5120640" cy="1645920"/>
          </a:xfrm>
          <a:prstGeom prst="rect">
            <a:avLst/>
          </a:prstGeom>
          <a:noFill/>
        </p:spPr>
        <p:txBody>
          <a:bodyPr wrap="none" lIns="0" rIns="0" tIns="0" bIns="0" anchor="t">
            <a:spAutoFit/>
          </a:bodyPr>
          <a:lstStyle/>
          <a:p>
            <a:pPr algn="l">
              <a:lnSpc>
                <a:spcPts val="12272"/>
              </a:lnSpc>
              <a:spcBef>
                <a:spcPts val="0"/>
              </a:spcBef>
              <a:spcAft>
                <a:spcPts val="0"/>
              </a:spcAft>
            </a:pPr>
            <a:r>
              <a:rPr sz="10400" b="1">
                <a:solidFill>
                  <a:srgbClr val="014CFE"/>
                </a:solidFill>
                <a:latin typeface="Manrope"/>
              </a:rPr>
              <a:t>10</a:t>
            </a:r>
          </a:p>
        </p:txBody>
      </p:sp>
      <p:sp>
        <p:nvSpPr>
          <p:cNvPr id="15" name="TextBox 14"/>
          <p:cNvSpPr txBox="1"/>
          <p:nvPr/>
        </p:nvSpPr>
        <p:spPr>
          <a:xfrm>
            <a:off x="777240" y="5989320"/>
            <a:ext cx="52120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DRAWN</a:t>
            </a:r>
          </a:p>
        </p:txBody>
      </p:sp>
      <p:sp>
        <p:nvSpPr>
          <p:cNvPr id="16" name="TextBox 15"/>
          <p:cNvSpPr txBox="1"/>
          <p:nvPr/>
        </p:nvSpPr>
        <p:spPr>
          <a:xfrm>
            <a:off x="777240" y="6547104"/>
            <a:ext cx="5212080" cy="594360"/>
          </a:xfrm>
          <a:prstGeom prst="rect">
            <a:avLst/>
          </a:prstGeom>
          <a:noFill/>
        </p:spPr>
        <p:txBody>
          <a:bodyPr wrap="none" lIns="0" rIns="0" tIns="0" bIns="0" anchor="t">
            <a:spAutoFit/>
          </a:bodyPr>
          <a:lstStyle/>
          <a:p>
            <a:pPr algn="l">
              <a:lnSpc>
                <a:spcPts val="2950"/>
              </a:lnSpc>
              <a:spcBef>
                <a:spcPts val="0"/>
              </a:spcBef>
              <a:spcAft>
                <a:spcPts val="0"/>
              </a:spcAft>
            </a:pPr>
            <a:r>
              <a:rPr sz="2500" b="0">
                <a:solidFill>
                  <a:srgbClr val="626977"/>
                </a:solidFill>
                <a:latin typeface="Inter"/>
              </a:rPr>
              <a:t>Advanced to the agent</a:t>
            </a:r>
          </a:p>
        </p:txBody>
      </p:sp>
      <p:sp>
        <p:nvSpPr>
          <p:cNvPr id="17" name="TextBox 16"/>
          <p:cNvSpPr txBox="1"/>
          <p:nvPr/>
        </p:nvSpPr>
        <p:spPr>
          <a:xfrm>
            <a:off x="6492240" y="4297680"/>
            <a:ext cx="5120640" cy="1645920"/>
          </a:xfrm>
          <a:prstGeom prst="rect">
            <a:avLst/>
          </a:prstGeom>
          <a:noFill/>
        </p:spPr>
        <p:txBody>
          <a:bodyPr wrap="none" lIns="0" rIns="0" tIns="0" bIns="0" anchor="t">
            <a:spAutoFit/>
          </a:bodyPr>
          <a:lstStyle/>
          <a:p>
            <a:pPr algn="l">
              <a:lnSpc>
                <a:spcPts val="12272"/>
              </a:lnSpc>
              <a:spcBef>
                <a:spcPts val="0"/>
              </a:spcBef>
              <a:spcAft>
                <a:spcPts val="0"/>
              </a:spcAft>
            </a:pPr>
            <a:r>
              <a:rPr sz="10400" b="1">
                <a:solidFill>
                  <a:srgbClr val="014CFE"/>
                </a:solidFill>
                <a:latin typeface="Manrope"/>
              </a:rPr>
              <a:t>3</a:t>
            </a:r>
          </a:p>
        </p:txBody>
      </p:sp>
      <p:sp>
        <p:nvSpPr>
          <p:cNvPr id="18" name="TextBox 17"/>
          <p:cNvSpPr txBox="1"/>
          <p:nvPr/>
        </p:nvSpPr>
        <p:spPr>
          <a:xfrm>
            <a:off x="6492240" y="5989320"/>
            <a:ext cx="52120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SPENT</a:t>
            </a:r>
          </a:p>
        </p:txBody>
      </p:sp>
      <p:sp>
        <p:nvSpPr>
          <p:cNvPr id="19" name="TextBox 18"/>
          <p:cNvSpPr txBox="1"/>
          <p:nvPr/>
        </p:nvSpPr>
        <p:spPr>
          <a:xfrm>
            <a:off x="6492240" y="6547104"/>
            <a:ext cx="5212080" cy="594360"/>
          </a:xfrm>
          <a:prstGeom prst="rect">
            <a:avLst/>
          </a:prstGeom>
          <a:noFill/>
        </p:spPr>
        <p:txBody>
          <a:bodyPr wrap="none" lIns="0" rIns="0" tIns="0" bIns="0" anchor="t">
            <a:spAutoFit/>
          </a:bodyPr>
          <a:lstStyle/>
          <a:p>
            <a:pPr algn="l">
              <a:lnSpc>
                <a:spcPts val="2950"/>
              </a:lnSpc>
              <a:spcBef>
                <a:spcPts val="0"/>
              </a:spcBef>
              <a:spcAft>
                <a:spcPts val="0"/>
              </a:spcAft>
            </a:pPr>
            <a:r>
              <a:rPr sz="2500" b="0">
                <a:solidFill>
                  <a:srgbClr val="626977"/>
                </a:solidFill>
                <a:latin typeface="Inter"/>
              </a:rPr>
              <a:t>Settled as consumed</a:t>
            </a:r>
          </a:p>
        </p:txBody>
      </p:sp>
      <p:sp>
        <p:nvSpPr>
          <p:cNvPr id="20" name="TextBox 19"/>
          <p:cNvSpPr txBox="1"/>
          <p:nvPr/>
        </p:nvSpPr>
        <p:spPr>
          <a:xfrm>
            <a:off x="12207240" y="4297680"/>
            <a:ext cx="5120640" cy="1645920"/>
          </a:xfrm>
          <a:prstGeom prst="rect">
            <a:avLst/>
          </a:prstGeom>
          <a:noFill/>
        </p:spPr>
        <p:txBody>
          <a:bodyPr wrap="none" lIns="0" rIns="0" tIns="0" bIns="0" anchor="t">
            <a:spAutoFit/>
          </a:bodyPr>
          <a:lstStyle/>
          <a:p>
            <a:pPr algn="l">
              <a:lnSpc>
                <a:spcPts val="12272"/>
              </a:lnSpc>
              <a:spcBef>
                <a:spcPts val="0"/>
              </a:spcBef>
              <a:spcAft>
                <a:spcPts val="0"/>
              </a:spcAft>
            </a:pPr>
            <a:r>
              <a:rPr sz="10400" b="1">
                <a:solidFill>
                  <a:srgbClr val="014CFE"/>
                </a:solidFill>
                <a:latin typeface="Manrope"/>
              </a:rPr>
              <a:t>7</a:t>
            </a:r>
          </a:p>
        </p:txBody>
      </p:sp>
      <p:sp>
        <p:nvSpPr>
          <p:cNvPr id="21" name="TextBox 20"/>
          <p:cNvSpPr txBox="1"/>
          <p:nvPr/>
        </p:nvSpPr>
        <p:spPr>
          <a:xfrm>
            <a:off x="12207240" y="5989320"/>
            <a:ext cx="52120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RECOVERED</a:t>
            </a:r>
          </a:p>
        </p:txBody>
      </p:sp>
      <p:sp>
        <p:nvSpPr>
          <p:cNvPr id="22" name="TextBox 21"/>
          <p:cNvSpPr txBox="1"/>
          <p:nvPr/>
        </p:nvSpPr>
        <p:spPr>
          <a:xfrm>
            <a:off x="12207240" y="6547104"/>
            <a:ext cx="5212080" cy="594360"/>
          </a:xfrm>
          <a:prstGeom prst="rect">
            <a:avLst/>
          </a:prstGeom>
          <a:noFill/>
        </p:spPr>
        <p:txBody>
          <a:bodyPr wrap="none" lIns="0" rIns="0" tIns="0" bIns="0" anchor="t">
            <a:spAutoFit/>
          </a:bodyPr>
          <a:lstStyle/>
          <a:p>
            <a:pPr algn="l">
              <a:lnSpc>
                <a:spcPts val="2950"/>
              </a:lnSpc>
              <a:spcBef>
                <a:spcPts val="0"/>
              </a:spcBef>
              <a:spcAft>
                <a:spcPts val="0"/>
              </a:spcAft>
            </a:pPr>
            <a:r>
              <a:rPr sz="2500" b="0">
                <a:solidFill>
                  <a:srgbClr val="626977"/>
                </a:solidFill>
                <a:latin typeface="Inter"/>
              </a:rPr>
              <a:t>Returned on closure</a:t>
            </a:r>
          </a:p>
        </p:txBody>
      </p:sp>
      <p:sp>
        <p:nvSpPr>
          <p:cNvPr id="23" name="Rounded Rectangle 22"/>
          <p:cNvSpPr/>
          <p:nvPr/>
        </p:nvSpPr>
        <p:spPr>
          <a:xfrm>
            <a:off x="777240" y="7772400"/>
            <a:ext cx="16779240" cy="941832"/>
          </a:xfrm>
          <a:prstGeom prst="roundRect">
            <a:avLst>
              <a:gd name="adj" fmla="val 9708"/>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133856" y="8028431"/>
            <a:ext cx="16047720" cy="548640"/>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Inter"/>
              </a:rPr>
              <a:t>Only the unused 7 is released for another allocation.</a:t>
            </a:r>
          </a:p>
        </p:txBody>
      </p:sp>
      <p:sp>
        <p:nvSpPr>
          <p:cNvPr id="25" name="TextBox 24"/>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Illustrative arithmetic from README.md, “Deployed cash-pool accounting v2”; amounts are not usage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04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D / DELIVERY STATUS — 26 OCT 2026</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184"/>
              </a:lnSpc>
              <a:spcBef>
                <a:spcPts val="0"/>
              </a:spcBef>
              <a:spcAft>
                <a:spcPts val="0"/>
              </a:spcAft>
            </a:pPr>
            <a:r>
              <a:rPr sz="4800" b="1">
                <a:solidFill>
                  <a:srgbClr val="151A24"/>
                </a:solidFill>
                <a:latin typeface="Manrope"/>
              </a:rPr>
              <a:t>What ships today. What comes next.</a:t>
            </a:r>
          </a:p>
        </p:txBody>
      </p:sp>
      <p:sp>
        <p:nvSpPr>
          <p:cNvPr id="13" name="TextBox 12"/>
          <p:cNvSpPr txBox="1"/>
          <p:nvPr/>
        </p:nvSpPr>
        <p:spPr>
          <a:xfrm>
            <a:off x="777240" y="3575303"/>
            <a:ext cx="2788920" cy="365760"/>
          </a:xfrm>
          <a:prstGeom prst="rect">
            <a:avLst/>
          </a:prstGeom>
          <a:noFill/>
        </p:spPr>
        <p:txBody>
          <a:bodyPr wrap="none" lIns="0" rIns="0" tIns="0" bIns="0" anchor="t">
            <a:spAutoFit/>
          </a:bodyPr>
          <a:lstStyle/>
          <a:p>
            <a:pPr algn="l">
              <a:lnSpc>
                <a:spcPts val="2005"/>
              </a:lnSpc>
              <a:spcBef>
                <a:spcPts val="0"/>
              </a:spcBef>
              <a:spcAft>
                <a:spcPts val="0"/>
              </a:spcAft>
            </a:pPr>
            <a:r>
              <a:rPr sz="1700" b="1">
                <a:solidFill>
                  <a:srgbClr val="167248"/>
                </a:solidFill>
                <a:latin typeface="JetBrains Mono"/>
              </a:rPr>
              <a:t>TESTNET</a:t>
            </a:r>
          </a:p>
        </p:txBody>
      </p:sp>
      <p:sp>
        <p:nvSpPr>
          <p:cNvPr id="14" name="TextBox 13"/>
          <p:cNvSpPr txBox="1"/>
          <p:nvPr/>
        </p:nvSpPr>
        <p:spPr>
          <a:xfrm>
            <a:off x="3703320" y="3474720"/>
            <a:ext cx="13624560" cy="54864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Shared pool + covenants</a:t>
            </a:r>
          </a:p>
        </p:txBody>
      </p:sp>
      <p:sp>
        <p:nvSpPr>
          <p:cNvPr id="15" name="TextBox 14"/>
          <p:cNvSpPr txBox="1"/>
          <p:nvPr/>
        </p:nvSpPr>
        <p:spPr>
          <a:xfrm>
            <a:off x="3703320" y="4114800"/>
            <a:ext cx="1362456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Cash-only v2; x402 payment evidence.</a:t>
            </a:r>
          </a:p>
        </p:txBody>
      </p:sp>
      <p:cxnSp>
        <p:nvCxnSpPr>
          <p:cNvPr id="16" name="Connector 15"/>
          <p:cNvCxnSpPr/>
          <p:nvPr/>
        </p:nvCxnSpPr>
        <p:spPr>
          <a:xfrm>
            <a:off x="777240" y="4617720"/>
            <a:ext cx="16779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77240" y="4882896"/>
            <a:ext cx="2788920" cy="365760"/>
          </a:xfrm>
          <a:prstGeom prst="rect">
            <a:avLst/>
          </a:prstGeom>
          <a:noFill/>
        </p:spPr>
        <p:txBody>
          <a:bodyPr wrap="none" lIns="0" rIns="0" tIns="0" bIns="0" anchor="t">
            <a:spAutoFit/>
          </a:bodyPr>
          <a:lstStyle/>
          <a:p>
            <a:pPr algn="l">
              <a:lnSpc>
                <a:spcPts val="2005"/>
              </a:lnSpc>
              <a:spcBef>
                <a:spcPts val="0"/>
              </a:spcBef>
              <a:spcAft>
                <a:spcPts val="0"/>
              </a:spcAft>
            </a:pPr>
            <a:r>
              <a:rPr sz="1700" b="1">
                <a:solidFill>
                  <a:srgbClr val="167248"/>
                </a:solidFill>
                <a:latin typeface="JetBrains Mono"/>
              </a:rPr>
              <a:t>TESTNET</a:t>
            </a:r>
          </a:p>
        </p:txBody>
      </p:sp>
      <p:sp>
        <p:nvSpPr>
          <p:cNvPr id="18" name="TextBox 17"/>
          <p:cNvSpPr txBox="1"/>
          <p:nvPr/>
        </p:nvSpPr>
        <p:spPr>
          <a:xfrm>
            <a:off x="3703320" y="4782312"/>
            <a:ext cx="13624560" cy="54864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Native payment mandates</a:t>
            </a:r>
          </a:p>
        </p:txBody>
      </p:sp>
      <p:sp>
        <p:nvSpPr>
          <p:cNvPr id="19" name="TextBox 18"/>
          <p:cNvSpPr txBox="1"/>
          <p:nvPr/>
        </p:nvSpPr>
        <p:spPr>
          <a:xfrm>
            <a:off x="3703320" y="5422392"/>
            <a:ext cx="1362456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Exact or budget grants; on-chain receipts. Released 26 Oct.</a:t>
            </a:r>
          </a:p>
        </p:txBody>
      </p:sp>
      <p:cxnSp>
        <p:nvCxnSpPr>
          <p:cNvPr id="20" name="Connector 19"/>
          <p:cNvCxnSpPr/>
          <p:nvPr/>
        </p:nvCxnSpPr>
        <p:spPr>
          <a:xfrm>
            <a:off x="777240" y="5925312"/>
            <a:ext cx="16779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7240" y="6190488"/>
            <a:ext cx="2788920" cy="365760"/>
          </a:xfrm>
          <a:prstGeom prst="rect">
            <a:avLst/>
          </a:prstGeom>
          <a:noFill/>
        </p:spPr>
        <p:txBody>
          <a:bodyPr wrap="none" lIns="0" rIns="0" tIns="0" bIns="0" anchor="t">
            <a:spAutoFit/>
          </a:bodyPr>
          <a:lstStyle/>
          <a:p>
            <a:pPr algn="l">
              <a:lnSpc>
                <a:spcPts val="2005"/>
              </a:lnSpc>
              <a:spcBef>
                <a:spcPts val="0"/>
              </a:spcBef>
              <a:spcAft>
                <a:spcPts val="0"/>
              </a:spcAft>
            </a:pPr>
            <a:r>
              <a:rPr sz="1700" b="1">
                <a:solidFill>
                  <a:srgbClr val="014CFE"/>
                </a:solidFill>
                <a:latin typeface="JetBrains Mono"/>
              </a:rPr>
              <a:t>LOCAL BUILD</a:t>
            </a:r>
          </a:p>
        </p:txBody>
      </p:sp>
      <p:sp>
        <p:nvSpPr>
          <p:cNvPr id="22" name="TextBox 21"/>
          <p:cNvSpPr txBox="1"/>
          <p:nvPr/>
        </p:nvSpPr>
        <p:spPr>
          <a:xfrm>
            <a:off x="3703320" y="6089904"/>
            <a:ext cx="13624560" cy="54864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DeFindex yield backing</a:t>
            </a:r>
          </a:p>
        </p:txBody>
      </p:sp>
      <p:sp>
        <p:nvSpPr>
          <p:cNvPr id="23" name="TextBox 22"/>
          <p:cNvSpPr txBox="1"/>
          <p:nvPr/>
        </p:nvSpPr>
        <p:spPr>
          <a:xfrm>
            <a:off x="3703320" y="6729984"/>
            <a:ext cx="1362456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Cash-first draws; shares held by pool.</a:t>
            </a:r>
          </a:p>
        </p:txBody>
      </p:sp>
      <p:cxnSp>
        <p:nvCxnSpPr>
          <p:cNvPr id="24" name="Connector 23"/>
          <p:cNvCxnSpPr/>
          <p:nvPr/>
        </p:nvCxnSpPr>
        <p:spPr>
          <a:xfrm>
            <a:off x="777240" y="7232904"/>
            <a:ext cx="16779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77240" y="7498079"/>
            <a:ext cx="2788920" cy="365760"/>
          </a:xfrm>
          <a:prstGeom prst="rect">
            <a:avLst/>
          </a:prstGeom>
          <a:noFill/>
        </p:spPr>
        <p:txBody>
          <a:bodyPr wrap="none" lIns="0" rIns="0" tIns="0" bIns="0" anchor="t">
            <a:spAutoFit/>
          </a:bodyPr>
          <a:lstStyle/>
          <a:p>
            <a:pPr algn="l">
              <a:lnSpc>
                <a:spcPts val="2005"/>
              </a:lnSpc>
              <a:spcBef>
                <a:spcPts val="0"/>
              </a:spcBef>
              <a:spcAft>
                <a:spcPts val="0"/>
              </a:spcAft>
            </a:pPr>
            <a:r>
              <a:rPr sz="1700" b="1">
                <a:solidFill>
                  <a:srgbClr val="626977"/>
                </a:solidFill>
                <a:latin typeface="JetBrains Mono"/>
              </a:rPr>
              <a:t>NEXT</a:t>
            </a:r>
          </a:p>
        </p:txBody>
      </p:sp>
      <p:sp>
        <p:nvSpPr>
          <p:cNvPr id="26" name="TextBox 25"/>
          <p:cNvSpPr txBox="1"/>
          <p:nvPr/>
        </p:nvSpPr>
        <p:spPr>
          <a:xfrm>
            <a:off x="3703320" y="7397496"/>
            <a:ext cx="13624560" cy="54864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Distribution + pilots</a:t>
            </a:r>
          </a:p>
        </p:txBody>
      </p:sp>
      <p:sp>
        <p:nvSpPr>
          <p:cNvPr id="27" name="TextBox 26"/>
          <p:cNvSpPr txBox="1"/>
          <p:nvPr/>
        </p:nvSpPr>
        <p:spPr>
          <a:xfrm>
            <a:off x="3703320" y="8037575"/>
            <a:ext cx="13624560" cy="54864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626977"/>
                </a:solidFill>
                <a:latin typeface="Inter"/>
              </a:rPr>
              <a:t>SDK on npm; x402 rehearsal on the new release; pilots.</a:t>
            </a:r>
          </a:p>
        </p:txBody>
      </p:sp>
      <p:sp>
        <p:nvSpPr>
          <p:cNvPr id="28" name="TextBox 27"/>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Sources: README.md; docs/MANDATES.md; docs/YIELD.md; docs/SDK.md. Local work does not upgrade immutable deployments.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05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E / EVIDENCE, WITH SCOPE</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832"/>
              </a:lnSpc>
              <a:spcBef>
                <a:spcPts val="0"/>
              </a:spcBef>
              <a:spcAft>
                <a:spcPts val="0"/>
              </a:spcAft>
            </a:pPr>
            <a:r>
              <a:rPr sz="5400" b="1">
                <a:solidFill>
                  <a:srgbClr val="151A24"/>
                </a:solidFill>
                <a:latin typeface="Manrope"/>
              </a:rPr>
              <a:t>Inspect the evidence.</a:t>
            </a:r>
          </a:p>
        </p:txBody>
      </p:sp>
      <p:sp>
        <p:nvSpPr>
          <p:cNvPr id="13" name="Rounded Rectangle 12"/>
          <p:cNvSpPr/>
          <p:nvPr/>
        </p:nvSpPr>
        <p:spPr>
          <a:xfrm>
            <a:off x="777240" y="3154680"/>
            <a:ext cx="5120640" cy="5440680"/>
          </a:xfrm>
          <a:prstGeom prst="roundRect">
            <a:avLst>
              <a:gd name="adj" fmla="val 1785"/>
            </a:avLst>
          </a:pr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143000" y="3657600"/>
            <a:ext cx="4389120" cy="1508760"/>
          </a:xfrm>
          <a:prstGeom prst="rect">
            <a:avLst/>
          </a:prstGeom>
          <a:noFill/>
        </p:spPr>
        <p:txBody>
          <a:bodyPr wrap="none" lIns="0" rIns="0" tIns="0" bIns="0" anchor="t">
            <a:spAutoFit/>
          </a:bodyPr>
          <a:lstStyle/>
          <a:p>
            <a:pPr algn="l">
              <a:lnSpc>
                <a:spcPts val="11800"/>
              </a:lnSpc>
              <a:spcBef>
                <a:spcPts val="0"/>
              </a:spcBef>
              <a:spcAft>
                <a:spcPts val="0"/>
              </a:spcAft>
            </a:pPr>
            <a:r>
              <a:rPr sz="10000" b="1">
                <a:solidFill>
                  <a:srgbClr val="FFFFFF"/>
                </a:solidFill>
                <a:latin typeface="Manrope"/>
              </a:rPr>
              <a:t>547</a:t>
            </a:r>
          </a:p>
        </p:txBody>
      </p:sp>
      <p:sp>
        <p:nvSpPr>
          <p:cNvPr id="15" name="TextBox 14"/>
          <p:cNvSpPr txBox="1"/>
          <p:nvPr/>
        </p:nvSpPr>
        <p:spPr>
          <a:xfrm>
            <a:off x="1161288" y="5394960"/>
            <a:ext cx="4297680" cy="548640"/>
          </a:xfrm>
          <a:prstGeom prst="rect">
            <a:avLst/>
          </a:prstGeom>
          <a:noFill/>
        </p:spPr>
        <p:txBody>
          <a:bodyPr wrap="none" lIns="0" rIns="0" tIns="0" bIns="0" anchor="t">
            <a:spAutoFit/>
          </a:bodyPr>
          <a:lstStyle/>
          <a:p>
            <a:pPr algn="l">
              <a:lnSpc>
                <a:spcPts val="2950"/>
              </a:lnSpc>
              <a:spcBef>
                <a:spcPts val="0"/>
              </a:spcBef>
              <a:spcAft>
                <a:spcPts val="0"/>
              </a:spcAft>
            </a:pPr>
            <a:r>
              <a:rPr sz="2500" b="1">
                <a:solidFill>
                  <a:srgbClr val="FFFFFF"/>
                </a:solidFill>
                <a:latin typeface="Inter"/>
              </a:rPr>
              <a:t>tests passing on main</a:t>
            </a:r>
          </a:p>
        </p:txBody>
      </p:sp>
      <p:sp>
        <p:nvSpPr>
          <p:cNvPr id="16" name="TextBox 15"/>
          <p:cNvSpPr txBox="1"/>
          <p:nvPr/>
        </p:nvSpPr>
        <p:spPr>
          <a:xfrm>
            <a:off x="1161288" y="6263640"/>
            <a:ext cx="4297680" cy="1554480"/>
          </a:xfrm>
          <a:prstGeom prst="rect">
            <a:avLst/>
          </a:prstGeom>
          <a:noFill/>
        </p:spPr>
        <p:txBody>
          <a:bodyPr wrap="none" lIns="0" rIns="0" tIns="0" bIns="0" anchor="t">
            <a:spAutoFit/>
          </a:bodyPr>
          <a:lstStyle/>
          <a:p>
            <a:pPr algn="l">
              <a:lnSpc>
                <a:spcPts val="3900"/>
              </a:lnSpc>
              <a:spcBef>
                <a:spcPts val="0"/>
              </a:spcBef>
              <a:spcAft>
                <a:spcPts val="0"/>
              </a:spcAft>
            </a:pPr>
            <a:r>
              <a:rPr sz="2600" b="0">
                <a:solidFill>
                  <a:srgbClr val="FFFFFF"/>
                </a:solidFill>
                <a:latin typeface="Inter"/>
              </a:rPr>
              <a:t>152 contracts</a:t>
            </a:r>
          </a:p>
          <a:p>
            <a:pPr algn="l">
              <a:lnSpc>
                <a:spcPts val="3900"/>
              </a:lnSpc>
              <a:spcBef>
                <a:spcPts val="0"/>
              </a:spcBef>
              <a:spcAft>
                <a:spcPts val="0"/>
              </a:spcAft>
            </a:pPr>
            <a:r>
              <a:rPr sz="2600" b="0">
                <a:solidFill>
                  <a:srgbClr val="FFFFFF"/>
                </a:solidFill>
                <a:latin typeface="Inter"/>
              </a:rPr>
              <a:t>267 dashboard</a:t>
            </a:r>
          </a:p>
          <a:p>
            <a:pPr algn="l">
              <a:lnSpc>
                <a:spcPts val="3900"/>
              </a:lnSpc>
              <a:spcBef>
                <a:spcPts val="0"/>
              </a:spcBef>
              <a:spcAft>
                <a:spcPts val="0"/>
              </a:spcAft>
            </a:pPr>
            <a:r>
              <a:rPr sz="2600" b="0">
                <a:solidFill>
                  <a:srgbClr val="FFFFFF"/>
                </a:solidFill>
                <a:latin typeface="Inter"/>
              </a:rPr>
              <a:t>79 SDK · 49 signer</a:t>
            </a:r>
          </a:p>
        </p:txBody>
      </p:sp>
      <p:sp>
        <p:nvSpPr>
          <p:cNvPr id="17" name="TextBox 16"/>
          <p:cNvSpPr txBox="1"/>
          <p:nvPr/>
        </p:nvSpPr>
        <p:spPr>
          <a:xfrm>
            <a:off x="6492240" y="3337560"/>
            <a:ext cx="1106424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USDC / LEGACY POOL</a:t>
            </a:r>
          </a:p>
        </p:txBody>
      </p:sp>
      <p:sp>
        <p:nvSpPr>
          <p:cNvPr id="18" name="TextBox 17">
            <a:hlinkClick r:id="rId3"/>
          </p:cNvPr>
          <p:cNvSpPr txBox="1"/>
          <p:nvPr/>
        </p:nvSpPr>
        <p:spPr>
          <a:xfrm>
            <a:off x="6492240" y="3831335"/>
            <a:ext cx="11064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0.01 USDC paid over x402</a:t>
            </a:r>
          </a:p>
        </p:txBody>
      </p:sp>
      <p:sp>
        <p:nvSpPr>
          <p:cNvPr id="19" name="TextBox 18"/>
          <p:cNvSpPr txBox="1"/>
          <p:nvPr/>
        </p:nvSpPr>
        <p:spPr>
          <a:xfrm>
            <a:off x="6492240" y="4462272"/>
            <a:ext cx="11064240" cy="45720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781a5f2b… · API content returned</a:t>
            </a:r>
          </a:p>
        </p:txBody>
      </p:sp>
      <p:cxnSp>
        <p:nvCxnSpPr>
          <p:cNvPr id="20" name="Connector 19"/>
          <p:cNvCxnSpPr/>
          <p:nvPr/>
        </p:nvCxnSpPr>
        <p:spPr>
          <a:xfrm>
            <a:off x="6492240" y="4946904"/>
            <a:ext cx="11064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492240" y="5148072"/>
            <a:ext cx="1106424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XLM / ISOLATED V2 POOL</a:t>
            </a:r>
          </a:p>
        </p:txBody>
      </p:sp>
      <p:sp>
        <p:nvSpPr>
          <p:cNvPr id="22" name="TextBox 21">
            <a:hlinkClick r:id="rId4"/>
          </p:cNvPr>
          <p:cNvSpPr txBox="1"/>
          <p:nvPr/>
        </p:nvSpPr>
        <p:spPr>
          <a:xfrm>
            <a:off x="6492240" y="5641848"/>
            <a:ext cx="11064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Complete cash lifecycle</a:t>
            </a:r>
          </a:p>
        </p:txBody>
      </p:sp>
      <p:sp>
        <p:nvSpPr>
          <p:cNvPr id="23" name="TextBox 22"/>
          <p:cNvSpPr txBox="1"/>
          <p:nvPr/>
        </p:nvSpPr>
        <p:spPr>
          <a:xfrm>
            <a:off x="6492240" y="6272783"/>
            <a:ext cx="11064240" cy="45720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Pay, revoke, recover, close; testnet XLM</a:t>
            </a:r>
          </a:p>
        </p:txBody>
      </p:sp>
      <p:cxnSp>
        <p:nvCxnSpPr>
          <p:cNvPr id="24" name="Connector 23"/>
          <p:cNvCxnSpPr/>
          <p:nvPr/>
        </p:nvCxnSpPr>
        <p:spPr>
          <a:xfrm>
            <a:off x="6492240" y="6757416"/>
            <a:ext cx="11064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492240" y="6958583"/>
            <a:ext cx="1106424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PRE-SUBMISSION SIMULATION</a:t>
            </a:r>
          </a:p>
        </p:txBody>
      </p:sp>
      <p:sp>
        <p:nvSpPr>
          <p:cNvPr id="26" name="TextBox 25">
            <a:hlinkClick r:id="rId5"/>
          </p:cNvPr>
          <p:cNvSpPr txBox="1"/>
          <p:nvPr/>
        </p:nvSpPr>
        <p:spPr>
          <a:xfrm>
            <a:off x="6492240" y="7452359"/>
            <a:ext cx="11064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Unapproved payee refused</a:t>
            </a:r>
          </a:p>
        </p:txBody>
      </p:sp>
      <p:sp>
        <p:nvSpPr>
          <p:cNvPr id="27" name="TextBox 26"/>
          <p:cNvSpPr txBox="1"/>
          <p:nvPr/>
        </p:nvSpPr>
        <p:spPr>
          <a:xfrm>
            <a:off x="6492240" y="8083296"/>
            <a:ext cx="11064240" cy="457200"/>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PayeeNotAllowed · no submitted transaction</a:t>
            </a:r>
          </a:p>
        </p:txBody>
      </p:sp>
      <p:sp>
        <p:nvSpPr>
          <p:cNvPr id="28" name="TextBox 27"/>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547 = test run on main, 2026-10-26: 152 Rust, 267 dashboard, 79 SDK, 49 signer; excludes one optional ignored fixture test and six opt-in network tests.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06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F / ADOPTION</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400"/>
              </a:lnSpc>
              <a:spcBef>
                <a:spcPts val="0"/>
              </a:spcBef>
              <a:spcAft>
                <a:spcPts val="0"/>
              </a:spcAft>
            </a:pPr>
            <a:r>
              <a:rPr sz="5000" b="1">
                <a:solidFill>
                  <a:srgbClr val="151A24"/>
                </a:solidFill>
                <a:latin typeface="Manrope"/>
              </a:rPr>
              <a:t>Built to be adopted by agents.</a:t>
            </a:r>
          </a:p>
        </p:txBody>
      </p:sp>
      <p:sp>
        <p:nvSpPr>
          <p:cNvPr id="13" name="TextBox 12"/>
          <p:cNvSpPr txBox="1"/>
          <p:nvPr/>
        </p:nvSpPr>
        <p:spPr>
          <a:xfrm>
            <a:off x="777240" y="3611879"/>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01</a:t>
            </a:r>
          </a:p>
        </p:txBody>
      </p:sp>
      <p:sp>
        <p:nvSpPr>
          <p:cNvPr id="14" name="TextBox 13"/>
          <p:cNvSpPr txBox="1"/>
          <p:nvPr/>
        </p:nvSpPr>
        <p:spPr>
          <a:xfrm>
            <a:off x="1828800" y="3566160"/>
            <a:ext cx="15544800" cy="594360"/>
          </a:xfrm>
          <a:prstGeom prst="rect">
            <a:avLst/>
          </a:prstGeom>
          <a:noFill/>
        </p:spPr>
        <p:txBody>
          <a:bodyPr wrap="none" lIns="0" rIns="0" tIns="0" bIns="0" anchor="t">
            <a:spAutoFit/>
          </a:bodyPr>
          <a:lstStyle/>
          <a:p>
            <a:pPr algn="l">
              <a:lnSpc>
                <a:spcPts val="4130"/>
              </a:lnSpc>
              <a:spcBef>
                <a:spcPts val="0"/>
              </a:spcBef>
              <a:spcAft>
                <a:spcPts val="0"/>
              </a:spcAft>
            </a:pPr>
            <a:r>
              <a:rPr sz="3500" b="1">
                <a:solidFill>
                  <a:srgbClr val="151A24"/>
                </a:solidFill>
                <a:latin typeface="Manrope"/>
              </a:rPr>
              <a:t>Give the agent the guide</a:t>
            </a:r>
          </a:p>
        </p:txBody>
      </p:sp>
      <p:sp>
        <p:nvSpPr>
          <p:cNvPr id="15" name="TextBox 14"/>
          <p:cNvSpPr txBox="1"/>
          <p:nvPr/>
        </p:nvSpPr>
        <p:spPr>
          <a:xfrm>
            <a:off x="1828800" y="4297680"/>
            <a:ext cx="15544800" cy="59436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agent.md · llms.txt · Claude Code plugin</a:t>
            </a:r>
          </a:p>
        </p:txBody>
      </p:sp>
      <p:cxnSp>
        <p:nvCxnSpPr>
          <p:cNvPr id="16" name="Connector 15"/>
          <p:cNvCxnSpPr/>
          <p:nvPr/>
        </p:nvCxnSpPr>
        <p:spPr>
          <a:xfrm>
            <a:off x="1828800" y="4892040"/>
            <a:ext cx="1572768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77240" y="5212080"/>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02</a:t>
            </a:r>
          </a:p>
        </p:txBody>
      </p:sp>
      <p:sp>
        <p:nvSpPr>
          <p:cNvPr id="18" name="TextBox 17"/>
          <p:cNvSpPr txBox="1"/>
          <p:nvPr/>
        </p:nvSpPr>
        <p:spPr>
          <a:xfrm>
            <a:off x="1828800" y="5166360"/>
            <a:ext cx="15544800" cy="594360"/>
          </a:xfrm>
          <a:prstGeom prst="rect">
            <a:avLst/>
          </a:prstGeom>
          <a:noFill/>
        </p:spPr>
        <p:txBody>
          <a:bodyPr wrap="none" lIns="0" rIns="0" tIns="0" bIns="0" anchor="t">
            <a:spAutoFit/>
          </a:bodyPr>
          <a:lstStyle/>
          <a:p>
            <a:pPr algn="l">
              <a:lnSpc>
                <a:spcPts val="4130"/>
              </a:lnSpc>
              <a:spcBef>
                <a:spcPts val="0"/>
              </a:spcBef>
              <a:spcAft>
                <a:spcPts val="0"/>
              </a:spcAft>
            </a:pPr>
            <a:r>
              <a:rPr sz="3500" b="1">
                <a:solidFill>
                  <a:srgbClr val="151A24"/>
                </a:solidFill>
                <a:latin typeface="Manrope"/>
              </a:rPr>
              <a:t>Approve with your own wallet</a:t>
            </a:r>
          </a:p>
        </p:txBody>
      </p:sp>
      <p:sp>
        <p:nvSpPr>
          <p:cNvPr id="19" name="TextBox 18"/>
          <p:cNvSpPr txBox="1"/>
          <p:nvPr/>
        </p:nvSpPr>
        <p:spPr>
          <a:xfrm>
            <a:off x="1828800" y="5897880"/>
            <a:ext cx="15544800" cy="59436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Agent prepares. Owner reviews and signs.</a:t>
            </a:r>
          </a:p>
        </p:txBody>
      </p:sp>
      <p:cxnSp>
        <p:nvCxnSpPr>
          <p:cNvPr id="20" name="Connector 19"/>
          <p:cNvCxnSpPr/>
          <p:nvPr/>
        </p:nvCxnSpPr>
        <p:spPr>
          <a:xfrm>
            <a:off x="1828800" y="6492240"/>
            <a:ext cx="1572768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7240" y="6812280"/>
            <a:ext cx="914400" cy="457200"/>
          </a:xfrm>
          <a:prstGeom prst="rect">
            <a:avLst/>
          </a:prstGeom>
          <a:noFill/>
        </p:spPr>
        <p:txBody>
          <a:bodyPr wrap="none" lIns="0" rIns="0" tIns="0" bIns="0" anchor="t">
            <a:spAutoFit/>
          </a:bodyPr>
          <a:lstStyle/>
          <a:p>
            <a:pPr algn="l">
              <a:lnSpc>
                <a:spcPts val="2595"/>
              </a:lnSpc>
              <a:spcBef>
                <a:spcPts val="0"/>
              </a:spcBef>
              <a:spcAft>
                <a:spcPts val="0"/>
              </a:spcAft>
            </a:pPr>
            <a:r>
              <a:rPr sz="2200" b="1">
                <a:solidFill>
                  <a:srgbClr val="014CFE"/>
                </a:solidFill>
                <a:latin typeface="JetBrains Mono"/>
              </a:rPr>
              <a:t>03</a:t>
            </a:r>
          </a:p>
        </p:txBody>
      </p:sp>
      <p:sp>
        <p:nvSpPr>
          <p:cNvPr id="22" name="TextBox 21"/>
          <p:cNvSpPr txBox="1"/>
          <p:nvPr/>
        </p:nvSpPr>
        <p:spPr>
          <a:xfrm>
            <a:off x="1828800" y="6766560"/>
            <a:ext cx="15544800" cy="594360"/>
          </a:xfrm>
          <a:prstGeom prst="rect">
            <a:avLst/>
          </a:prstGeom>
          <a:noFill/>
        </p:spPr>
        <p:txBody>
          <a:bodyPr wrap="none" lIns="0" rIns="0" tIns="0" bIns="0" anchor="t">
            <a:spAutoFit/>
          </a:bodyPr>
          <a:lstStyle/>
          <a:p>
            <a:pPr algn="l">
              <a:lnSpc>
                <a:spcPts val="4130"/>
              </a:lnSpc>
              <a:spcBef>
                <a:spcPts val="0"/>
              </a:spcBef>
              <a:spcAft>
                <a:spcPts val="0"/>
              </a:spcAft>
            </a:pPr>
            <a:r>
              <a:rPr sz="3500" b="1">
                <a:solidFill>
                  <a:srgbClr val="151A24"/>
                </a:solidFill>
                <a:latin typeface="Manrope"/>
              </a:rPr>
              <a:t>Integrate the TypeScript SDK</a:t>
            </a:r>
          </a:p>
        </p:txBody>
      </p:sp>
      <p:sp>
        <p:nvSpPr>
          <p:cNvPr id="23" name="TextBox 22"/>
          <p:cNvSpPr txBox="1"/>
          <p:nvPr/>
        </p:nvSpPr>
        <p:spPr>
          <a:xfrm>
            <a:off x="1828800" y="7498080"/>
            <a:ext cx="15544800" cy="59436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Pools, payments, signing and recovery.</a:t>
            </a:r>
          </a:p>
        </p:txBody>
      </p:sp>
      <p:sp>
        <p:nvSpPr>
          <p:cNvPr id="24" name="TextBox 23">
            <a:hlinkClick r:id="rId3"/>
          </p:cNvPr>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@kovan-protocol/sdk@0.1.0 is on npm. Guide: kovan-protocol.vercel.app/agent.md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BACKUP  07 / 07</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G / JUDGE Q&amp;A</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292"/>
              </a:lnSpc>
              <a:spcBef>
                <a:spcPts val="0"/>
              </a:spcBef>
              <a:spcAft>
                <a:spcPts val="0"/>
              </a:spcAft>
            </a:pPr>
            <a:r>
              <a:rPr sz="4900" b="1">
                <a:solidFill>
                  <a:srgbClr val="151A24"/>
                </a:solidFill>
                <a:latin typeface="Manrope"/>
              </a:rPr>
              <a:t>A spending boundary, not a guarantee.</a:t>
            </a:r>
          </a:p>
        </p:txBody>
      </p:sp>
      <p:sp>
        <p:nvSpPr>
          <p:cNvPr id="13" name="TextBox 12"/>
          <p:cNvSpPr txBox="1"/>
          <p:nvPr/>
        </p:nvSpPr>
        <p:spPr>
          <a:xfrm>
            <a:off x="777240" y="3474720"/>
            <a:ext cx="16779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Can prompt injection still do harm?</a:t>
            </a:r>
          </a:p>
        </p:txBody>
      </p:sp>
      <p:sp>
        <p:nvSpPr>
          <p:cNvPr id="14" name="TextBox 13"/>
          <p:cNvSpPr txBox="1"/>
          <p:nvPr/>
        </p:nvSpPr>
        <p:spPr>
          <a:xfrm>
            <a:off x="777240" y="4123944"/>
            <a:ext cx="16779240" cy="54864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Yes—within an approved budget and payee list.</a:t>
            </a:r>
          </a:p>
        </p:txBody>
      </p:sp>
      <p:sp>
        <p:nvSpPr>
          <p:cNvPr id="15" name="TextBox 14"/>
          <p:cNvSpPr txBox="1"/>
          <p:nvPr/>
        </p:nvSpPr>
        <p:spPr>
          <a:xfrm>
            <a:off x="777240" y="4846320"/>
            <a:ext cx="16779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Does a receipt prove the task succeeded?</a:t>
            </a:r>
          </a:p>
        </p:txBody>
      </p:sp>
      <p:sp>
        <p:nvSpPr>
          <p:cNvPr id="16" name="TextBox 15"/>
          <p:cNvSpPr txBox="1"/>
          <p:nvPr/>
        </p:nvSpPr>
        <p:spPr>
          <a:xfrm>
            <a:off x="777240" y="5495544"/>
            <a:ext cx="16779240" cy="54864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It proves payment, not delivery or correctness.</a:t>
            </a:r>
          </a:p>
        </p:txBody>
      </p:sp>
      <p:sp>
        <p:nvSpPr>
          <p:cNvPr id="17" name="TextBox 16"/>
          <p:cNvSpPr txBox="1"/>
          <p:nvPr/>
        </p:nvSpPr>
        <p:spPr>
          <a:xfrm>
            <a:off x="777240" y="6217920"/>
            <a:ext cx="16779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Can the owner get spent funds back?</a:t>
            </a:r>
          </a:p>
        </p:txBody>
      </p:sp>
      <p:sp>
        <p:nvSpPr>
          <p:cNvPr id="18" name="TextBox 17"/>
          <p:cNvSpPr txBox="1"/>
          <p:nvPr/>
        </p:nvSpPr>
        <p:spPr>
          <a:xfrm>
            <a:off x="777240" y="6867144"/>
            <a:ext cx="16779240" cy="54864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Recovery returns the remaining wallet balance.</a:t>
            </a:r>
          </a:p>
        </p:txBody>
      </p:sp>
      <p:sp>
        <p:nvSpPr>
          <p:cNvPr id="19" name="TextBox 18"/>
          <p:cNvSpPr txBox="1"/>
          <p:nvPr/>
        </p:nvSpPr>
        <p:spPr>
          <a:xfrm>
            <a:off x="777240" y="7589520"/>
            <a:ext cx="16779240" cy="594360"/>
          </a:xfrm>
          <a:prstGeom prst="rect">
            <a:avLst/>
          </a:prstGeom>
          <a:noFill/>
        </p:spPr>
        <p:txBody>
          <a:bodyPr wrap="none" lIns="0" rIns="0" tIns="0" bIns="0" anchor="t">
            <a:spAutoFit/>
          </a:bodyPr>
          <a:lstStyle/>
          <a:p>
            <a:pPr algn="l">
              <a:lnSpc>
                <a:spcPts val="3658"/>
              </a:lnSpc>
              <a:spcBef>
                <a:spcPts val="0"/>
              </a:spcBef>
              <a:spcAft>
                <a:spcPts val="0"/>
              </a:spcAft>
            </a:pPr>
            <a:r>
              <a:rPr sz="3100" b="1">
                <a:solidFill>
                  <a:srgbClr val="151A24"/>
                </a:solidFill>
                <a:latin typeface="Manrope"/>
              </a:rPr>
              <a:t>Is it ready for real customer funds?</a:t>
            </a:r>
          </a:p>
        </p:txBody>
      </p:sp>
      <p:sp>
        <p:nvSpPr>
          <p:cNvPr id="20" name="TextBox 19"/>
          <p:cNvSpPr txBox="1"/>
          <p:nvPr/>
        </p:nvSpPr>
        <p:spPr>
          <a:xfrm>
            <a:off x="777240" y="8238744"/>
            <a:ext cx="16779240" cy="548640"/>
          </a:xfrm>
          <a:prstGeom prst="rect">
            <a:avLst/>
          </a:prstGeom>
          <a:noFill/>
        </p:spPr>
        <p:txBody>
          <a:bodyPr wrap="none" lIns="0" rIns="0" tIns="0" bIns="0" anchor="t">
            <a:spAutoFit/>
          </a:bodyPr>
          <a:lstStyle/>
          <a:p>
            <a:pPr algn="l">
              <a:lnSpc>
                <a:spcPts val="3304"/>
              </a:lnSpc>
              <a:spcBef>
                <a:spcPts val="0"/>
              </a:spcBef>
              <a:spcAft>
                <a:spcPts val="0"/>
              </a:spcAft>
            </a:pPr>
            <a:r>
              <a:rPr sz="2800" b="0">
                <a:solidFill>
                  <a:srgbClr val="626977"/>
                </a:solidFill>
                <a:latin typeface="Inter"/>
              </a:rPr>
              <a:t>Testnet prototype; review and audit come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Kovan — Agent autonomy. Human control.</dc:title>
  <dc:subject>HackMeridian 2026 · Agents that spend</dc:subject>
  <dc:creator>Kovan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