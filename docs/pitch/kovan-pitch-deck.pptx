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0:00–0:12 · COVER</a:t>
            </a:r>
          </a:p>
          <a:p>
            <a:r>
              <a:t>AI agents are starting to spend money on their own. Kovan gives them a shared USDC budget, with spending rules enforced by their own Stellar smart accounts. Agent autonomy. Human control.</a:t>
            </a:r>
          </a:p>
          <a:p/>
          <a:p>
            <a:r>
              <a:t>The 100 USDC allocation is an illustrative example, not traction or current pool funding. All product evidence in this presentation is testnet evidence; testnet tokens have no real value. The project is unaudited.</a:t>
            </a:r>
          </a:p>
          <a:p>
            <a:r>
              <a:t>Transition: Here is how we separate an agent's ability to work from its ability to move money.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0:12–0:42 · SOLUTION</a:t>
            </a:r>
          </a:p>
          <a:p>
            <a:r>
              <a:t>You lock USDC in one pool. Each agent gets its own smart account and a covenant: who it may pay, how much per payment and in total, and until when. The pool keeps allocations backed. An agent can delegate a narrower budget to a child, carved out of its own allocation. The owner can revoke and recover unused funds without needing the agent's key. The agent cannot remove the spending policy.</a:t>
            </a:r>
          </a:p>
          <a:p/>
          <a:p>
            <a:r>
              <a:t>Technical detail: the signer, allowlists and policy binding are fixed at account creation. The owner can amend numeric limits and expiry. The recovery allowance is established at creation and lasts 3,000,000 ledgers. Children must be closed before their parent. Recovery does not undo completed payments.</a:t>
            </a:r>
          </a:p>
          <a:p>
            <a:r>
              <a:t>Do not claim the system prevents all prompt injection: a compromised agent may still waste its approved budget with an approved payee. Contract bugs and deployment configuration are separate risks.</a:t>
            </a:r>
          </a:p>
          <a:p>
            <a:r>
              <a:t>Sources: README.md; contracts/agent-account; contracts/covenant-policy; contracts/pool.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0:42–1:08 · PMF / PROBLEM</a:t>
            </a:r>
          </a:p>
          <a:p>
            <a:r>
              <a:t>Our first user is a developer running agents that buy data, APIs or compute. Today they either fund a wallet and expose that balance, or interrupt the agent with manual top-ups. x402 makes paying per request possible. Kovan adds a shared treasury and an enforceable spending boundary around those payments. The first pilot question is simple: can a team let an agent complete useful paid work and keep every payment within its approved rules?</a:t>
            </a:r>
          </a:p>
          <a:p/>
          <a:p>
            <a:r>
              <a:t>Objection prep — “Have you proven product-market fit?”</a:t>
            </a:r>
          </a:p>
          <a:p>
            <a:r>
              <a:t>No. The evidence today proves execution and controls on testnet, not customer demand. Recruit developers already using paid APIs and measure completed tasks, paid calls, rejected out-of-policy attempts, and repeat weekly use.</a:t>
            </a:r>
          </a:p>
          <a:p/>
          <a:p>
            <a:r>
              <a:t>The original deck's unsubstantiated “9+ teams” line and broad incident comparisons are omitted. A jailbreak challenge and a real operational compromise are not interchangeable evidence of customer demand.</a:t>
            </a:r>
          </a:p>
          <a:p>
            <a:r>
              <a:t>Current ecosystem context checked 2026-10-26: Stellar Developer Docs describes x402 per-request payments, Soroban auth-entry signing, SEP-41 assets and USDC as the default asset. https://developers.stellar.org/docs/build/agentic-payments/x402/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1:08–1:35 · WORKFLOW</a:t>
            </a:r>
          </a:p>
          <a:p>
            <a:r>
              <a:t>Four Soroban contracts power this: the pool, agent account, covenant policy and signature verifier. The owner funds the pool and approves setup in Freighter. The pool deploys an account for each agent. Every outgoing authorized call is checked by the covenant. We built the smart-account authorization payload needed to pay over x402. The same covenant applies to direct transfers.</a:t>
            </a:r>
          </a:p>
          <a:p/>
          <a:p>
            <a:r>
              <a:t>1:35–2:40 · DEMO — show the application or prepared recording</a:t>
            </a:r>
          </a:p>
          <a:p>
            <a:r>
              <a:t>00–15 seconds: show a funded pool and one prepared agent. Point to its approved payee and spending cap. “The owner approves setup in their own wallet; the agent uses its own key.”</a:t>
            </a:r>
          </a:p>
          <a:p>
            <a:r>
              <a:t>15–35 seconds: execute or replay the x402 payment. “The API returns 402. The agent signs an authorization, the facilitator settles the payment, and the API returns the content.” Show the actual transaction receipt.</a:t>
            </a:r>
          </a:p>
          <a:p>
            <a:r>
              <a:t>35–50 seconds: attempt payment to an unapproved address. “The account refuses it: PayeeNotAllowed. This is a contract authorization failure before submission, so there is no failed transaction hash to show.”</a:t>
            </a:r>
          </a:p>
          <a:p>
            <a:r>
              <a:t>50–65 seconds: show revocation and recovery, or the documented v2 lifecycle receipt. “New spending stops. We close the agent and recover unused funds without the agent's key.”</a:t>
            </a:r>
          </a:p>
          <a:p/>
          <a:p>
            <a:r>
              <a:t>Evidence boundaries: historical USDC x402 transaction 781a5f2b560df66d3d6c587ef4f2a283e82421ce16b54565a9a64a8ba662775d belongs to a legacy pool. Full v2 revoke/recover/shutdown evidence is a separate isolated testnet XLM pool in docs/SDK.md. Do not present these as one continuous USDC run. Rehearse a fresh sequence before recording. No new payment was submitted while making this deck.</a:t>
            </a:r>
          </a:p>
          <a:p>
            <a:r>
              <a:t>Optional extensions only after deployment and funded rehearsal: delegation with on-chain evidence; owner-approved mandates; DeFindex yield. Avoid spending the core demo on unrehearsed integrations.</a:t>
            </a:r>
          </a:p>
          <a:p/>
          <a:p>
            <a:r>
              <a:t>Why Stellar: the settlement asset, programmable authorization and HTTP payment rail are composable. Official sources: https://developers.stellar.org/docs/build/agentic-payments/x402/ ; https://docs.openzeppelin.com/stellar-contracts/accounts/policies ; https://www.circle.com/multi-chain-usdc/stellar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2:40–3:00 · TEAM / CLOSE</a:t>
            </a:r>
          </a:p>
          <a:p>
            <a:r>
              <a:t>[Introduce each teammate and the part they built. Names and roles are intentionally left open at the user's request.]</a:t>
            </a:r>
          </a:p>
          <a:p>
            <a:r>
              <a:t>We built Kovan at HackMeridian: shared budgets, on-chain spending rules and a working smart-account x402 payment. We want developers of paid-API agents to try the bounded spending loop and tell us where it breaks. Kovan. Give your agents a budget, not your wallet.</a:t>
            </a:r>
          </a:p>
          <a:p/>
          <a:p>
            <a:r>
              <a:t>If names are not filled before the presentation, introduce the team verbally. Do not claim a precise 24-hour build duration without confirming it.</a:t>
            </a:r>
          </a:p>
          <a:p>
            <a:r>
              <a:t>Evidence for build period: README.md “Built during event vs prior work” and docs/SUBMISSION_FORM.md, which disclose event-built code, prior planning, OpenZeppelin verifier code and vendored Stellar skills.</a:t>
            </a:r>
          </a:p>
          <a:p>
            <a:r>
              <a:t>The website's primary demo may be the interactive playground (a simulation); it is not the deployed owner dashboard. Use an actual running console for live payments.</a:t>
            </a:r>
          </a:p>
          <a:p>
            <a:r>
              <a:t>Suggested pilot invitation, not an existing customer claim. No funding amount or commercial commitment has been invented.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developers.stellar.org/docs/build/agentic-payments/x402/"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kovan-protocol/kovan"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kovan-protocol.vercel.app" TargetMode="External"/><Relationship Id="rId4" Type="http://schemas.openxmlformats.org/officeDocument/2006/relationships/hyperlink" Target="https://github.com/kovan-protocol/kovan" TargetMode="External"/><Relationship Id="rId5"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80B"/>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3D7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3D7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EDF0F6"/>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A0A9BA"/>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A0A9BA"/>
                </a:solidFill>
                <a:latin typeface="JetBrains Mono"/>
              </a:rPr>
              <a:t>PITCH  01 / 05</a:t>
            </a:r>
          </a:p>
        </p:txBody>
      </p:sp>
      <p:cxnSp>
        <p:nvCxnSpPr>
          <p:cNvPr id="7" name="Connector 6"/>
          <p:cNvCxnSpPr/>
          <p:nvPr/>
        </p:nvCxnSpPr>
        <p:spPr>
          <a:xfrm>
            <a:off x="731520" y="1078992"/>
            <a:ext cx="16824960" cy="0"/>
          </a:xfrm>
          <a:prstGeom prst="line">
            <a:avLst/>
          </a:prstGeom>
          <a:ln w="12700">
            <a:solidFill>
              <a:srgbClr val="29313F"/>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29313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A0A9BA"/>
                </a:solidFill>
                <a:latin typeface="JetBrains Mono"/>
              </a:rPr>
              <a:t>STELLAR TESTNET · HACKATHON PROTOTYPE</a:t>
            </a:r>
          </a:p>
        </p:txBody>
      </p:sp>
      <p:pic>
        <p:nvPicPr>
          <p:cNvPr id="10" name="Picture 9" descr="hackmeridian-light.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87AAFF"/>
                </a:solidFill>
                <a:latin typeface="JetBrains Mono"/>
              </a:rPr>
              <a:t>GENESIS + STELLAR COMPOSED / AGENTS THAT SPEND</a:t>
            </a:r>
          </a:p>
        </p:txBody>
      </p:sp>
      <p:sp>
        <p:nvSpPr>
          <p:cNvPr id="12" name="TextBox 11"/>
          <p:cNvSpPr txBox="1"/>
          <p:nvPr/>
        </p:nvSpPr>
        <p:spPr>
          <a:xfrm>
            <a:off x="731520" y="2057400"/>
            <a:ext cx="9784080" cy="2286000"/>
          </a:xfrm>
          <a:prstGeom prst="rect">
            <a:avLst/>
          </a:prstGeom>
          <a:noFill/>
        </p:spPr>
        <p:txBody>
          <a:bodyPr wrap="none" lIns="0" rIns="0" tIns="0" bIns="0" anchor="t">
            <a:spAutoFit/>
          </a:bodyPr>
          <a:lstStyle/>
          <a:p>
            <a:pPr algn="l">
              <a:lnSpc>
                <a:spcPts val="8159"/>
              </a:lnSpc>
              <a:spcBef>
                <a:spcPts val="0"/>
              </a:spcBef>
              <a:spcAft>
                <a:spcPts val="0"/>
              </a:spcAft>
            </a:pPr>
            <a:r>
              <a:rPr sz="8000" b="1">
                <a:solidFill>
                  <a:srgbClr val="EDF0F6"/>
                </a:solidFill>
                <a:latin typeface="Manrope"/>
              </a:rPr>
              <a:t>Give agents</a:t>
            </a:r>
          </a:p>
          <a:p>
            <a:pPr algn="l">
              <a:lnSpc>
                <a:spcPts val="8159"/>
              </a:lnSpc>
              <a:spcBef>
                <a:spcPts val="0"/>
              </a:spcBef>
              <a:spcAft>
                <a:spcPts val="0"/>
              </a:spcAft>
            </a:pPr>
            <a:r>
              <a:rPr sz="8000" b="1">
                <a:solidFill>
                  <a:srgbClr val="EDF0F6"/>
                </a:solidFill>
                <a:latin typeface="Manrope"/>
              </a:rPr>
              <a:t>a budget.</a:t>
            </a:r>
          </a:p>
        </p:txBody>
      </p:sp>
      <p:sp>
        <p:nvSpPr>
          <p:cNvPr id="13" name="TextBox 12"/>
          <p:cNvSpPr txBox="1"/>
          <p:nvPr/>
        </p:nvSpPr>
        <p:spPr>
          <a:xfrm>
            <a:off x="731520" y="4590288"/>
            <a:ext cx="10058400" cy="914400"/>
          </a:xfrm>
          <a:prstGeom prst="rect">
            <a:avLst/>
          </a:prstGeom>
          <a:noFill/>
        </p:spPr>
        <p:txBody>
          <a:bodyPr wrap="none" lIns="0" rIns="0" tIns="0" bIns="0" anchor="t">
            <a:spAutoFit/>
          </a:bodyPr>
          <a:lstStyle/>
          <a:p>
            <a:pPr algn="l">
              <a:lnSpc>
                <a:spcPts val="6136"/>
              </a:lnSpc>
              <a:spcBef>
                <a:spcPts val="0"/>
              </a:spcBef>
              <a:spcAft>
                <a:spcPts val="0"/>
              </a:spcAft>
            </a:pPr>
            <a:r>
              <a:rPr sz="5200" b="1">
                <a:solidFill>
                  <a:srgbClr val="87AAFF"/>
                </a:solidFill>
                <a:latin typeface="Manrope"/>
              </a:rPr>
              <a:t>Keep the control.</a:t>
            </a:r>
          </a:p>
        </p:txBody>
      </p:sp>
      <p:sp>
        <p:nvSpPr>
          <p:cNvPr id="14" name="TextBox 13"/>
          <p:cNvSpPr txBox="1"/>
          <p:nvPr/>
        </p:nvSpPr>
        <p:spPr>
          <a:xfrm>
            <a:off x="777240" y="5897880"/>
            <a:ext cx="9784080" cy="1234440"/>
          </a:xfrm>
          <a:prstGeom prst="rect">
            <a:avLst/>
          </a:prstGeom>
          <a:noFill/>
        </p:spPr>
        <p:txBody>
          <a:bodyPr wrap="none" lIns="0" rIns="0" tIns="0" bIns="0" anchor="t">
            <a:spAutoFit/>
          </a:bodyPr>
          <a:lstStyle/>
          <a:p>
            <a:pPr algn="l">
              <a:lnSpc>
                <a:spcPts val="4096"/>
              </a:lnSpc>
              <a:spcBef>
                <a:spcPts val="0"/>
              </a:spcBef>
              <a:spcAft>
                <a:spcPts val="0"/>
              </a:spcAft>
            </a:pPr>
            <a:r>
              <a:rPr sz="3200" b="0">
                <a:solidFill>
                  <a:srgbClr val="A0A9BA"/>
                </a:solidFill>
                <a:latin typeface="Inter"/>
              </a:rPr>
              <a:t>Shared USDC budgets, enforced</a:t>
            </a:r>
          </a:p>
          <a:p>
            <a:pPr algn="l">
              <a:lnSpc>
                <a:spcPts val="4096"/>
              </a:lnSpc>
              <a:spcBef>
                <a:spcPts val="0"/>
              </a:spcBef>
              <a:spcAft>
                <a:spcPts val="0"/>
              </a:spcAft>
            </a:pPr>
            <a:r>
              <a:rPr sz="3200" b="0">
                <a:solidFill>
                  <a:srgbClr val="A0A9BA"/>
                </a:solidFill>
                <a:latin typeface="Inter"/>
              </a:rPr>
              <a:t>by Stellar smart accounts.</a:t>
            </a:r>
          </a:p>
        </p:txBody>
      </p:sp>
      <p:sp>
        <p:nvSpPr>
          <p:cNvPr id="15" name="TextBox 14"/>
          <p:cNvSpPr txBox="1"/>
          <p:nvPr/>
        </p:nvSpPr>
        <p:spPr>
          <a:xfrm>
            <a:off x="777240" y="7955279"/>
            <a:ext cx="10789920" cy="548640"/>
          </a:xfrm>
          <a:prstGeom prst="rect">
            <a:avLst/>
          </a:prstGeom>
          <a:noFill/>
        </p:spPr>
        <p:txBody>
          <a:bodyPr wrap="none" lIns="0" rIns="0" tIns="0" bIns="0" anchor="t">
            <a:spAutoFit/>
          </a:bodyPr>
          <a:lstStyle/>
          <a:p>
            <a:pPr algn="l">
              <a:lnSpc>
                <a:spcPts val="3304"/>
              </a:lnSpc>
              <a:spcBef>
                <a:spcPts val="0"/>
              </a:spcBef>
              <a:spcAft>
                <a:spcPts val="0"/>
              </a:spcAft>
            </a:pPr>
            <a:r>
              <a:rPr sz="2800" b="1">
                <a:solidFill>
                  <a:srgbClr val="EDF0F6"/>
                </a:solidFill>
                <a:latin typeface="Inter"/>
              </a:rPr>
              <a:t>Agent autonomy. Human control.</a:t>
            </a:r>
          </a:p>
        </p:txBody>
      </p:sp>
      <p:sp>
        <p:nvSpPr>
          <p:cNvPr id="16" name="Rounded Rectangle 15"/>
          <p:cNvSpPr/>
          <p:nvPr/>
        </p:nvSpPr>
        <p:spPr>
          <a:xfrm>
            <a:off x="11612880" y="2075688"/>
            <a:ext cx="5943600" cy="6373368"/>
          </a:xfrm>
          <a:prstGeom prst="roundRect">
            <a:avLst>
              <a:gd name="adj" fmla="val 1846"/>
            </a:avLst>
          </a:prstGeom>
          <a:solidFill>
            <a:srgbClr val="0F1217"/>
          </a:solidFill>
          <a:ln w="12700">
            <a:solidFill>
              <a:srgbClr val="29313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2024360" y="2514600"/>
            <a:ext cx="502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87AAFF"/>
                </a:solidFill>
                <a:latin typeface="JetBrains Mono"/>
              </a:rPr>
              <a:t>ONE POOL / MANY AGENTS</a:t>
            </a:r>
          </a:p>
        </p:txBody>
      </p:sp>
      <p:sp>
        <p:nvSpPr>
          <p:cNvPr id="18" name="TextBox 17"/>
          <p:cNvSpPr txBox="1"/>
          <p:nvPr/>
        </p:nvSpPr>
        <p:spPr>
          <a:xfrm>
            <a:off x="11978640" y="3035808"/>
            <a:ext cx="5212080" cy="1143000"/>
          </a:xfrm>
          <a:prstGeom prst="rect">
            <a:avLst/>
          </a:prstGeom>
          <a:noFill/>
        </p:spPr>
        <p:txBody>
          <a:bodyPr wrap="none" lIns="0" rIns="0" tIns="0" bIns="0" anchor="t">
            <a:spAutoFit/>
          </a:bodyPr>
          <a:lstStyle/>
          <a:p>
            <a:pPr algn="l">
              <a:lnSpc>
                <a:spcPts val="10147"/>
              </a:lnSpc>
              <a:spcBef>
                <a:spcPts val="0"/>
              </a:spcBef>
              <a:spcAft>
                <a:spcPts val="0"/>
              </a:spcAft>
            </a:pPr>
            <a:r>
              <a:rPr sz="8600" b="1">
                <a:solidFill>
                  <a:srgbClr val="EDF0F6"/>
                </a:solidFill>
                <a:latin typeface="Manrope"/>
              </a:rPr>
              <a:t>100</a:t>
            </a:r>
          </a:p>
        </p:txBody>
      </p:sp>
      <p:sp>
        <p:nvSpPr>
          <p:cNvPr id="19" name="TextBox 18"/>
          <p:cNvSpPr txBox="1"/>
          <p:nvPr/>
        </p:nvSpPr>
        <p:spPr>
          <a:xfrm>
            <a:off x="12024360" y="4315968"/>
            <a:ext cx="5120640" cy="411480"/>
          </a:xfrm>
          <a:prstGeom prst="rect">
            <a:avLst/>
          </a:prstGeom>
          <a:noFill/>
        </p:spPr>
        <p:txBody>
          <a:bodyPr wrap="none" lIns="0" rIns="0" tIns="0" bIns="0" anchor="t">
            <a:spAutoFit/>
          </a:bodyPr>
          <a:lstStyle/>
          <a:p>
            <a:pPr algn="l">
              <a:lnSpc>
                <a:spcPts val="2713"/>
              </a:lnSpc>
              <a:spcBef>
                <a:spcPts val="0"/>
              </a:spcBef>
              <a:spcAft>
                <a:spcPts val="0"/>
              </a:spcAft>
            </a:pPr>
            <a:r>
              <a:rPr sz="2300" b="0">
                <a:solidFill>
                  <a:srgbClr val="A0A9BA"/>
                </a:solidFill>
                <a:latin typeface="Inter"/>
              </a:rPr>
              <a:t>USDC · shared budget</a:t>
            </a:r>
          </a:p>
        </p:txBody>
      </p:sp>
      <p:sp>
        <p:nvSpPr>
          <p:cNvPr id="20" name="TextBox 19"/>
          <p:cNvSpPr txBox="1"/>
          <p:nvPr/>
        </p:nvSpPr>
        <p:spPr>
          <a:xfrm>
            <a:off x="12024360" y="5166360"/>
            <a:ext cx="4389120" cy="347472"/>
          </a:xfrm>
          <a:prstGeom prst="rect">
            <a:avLst/>
          </a:prstGeom>
          <a:noFill/>
        </p:spPr>
        <p:txBody>
          <a:bodyPr wrap="none" lIns="0" rIns="0" tIns="0" bIns="0" anchor="t">
            <a:spAutoFit/>
          </a:bodyPr>
          <a:lstStyle/>
          <a:p>
            <a:pPr algn="l">
              <a:lnSpc>
                <a:spcPts val="2360"/>
              </a:lnSpc>
              <a:spcBef>
                <a:spcPts val="0"/>
              </a:spcBef>
              <a:spcAft>
                <a:spcPts val="0"/>
              </a:spcAft>
            </a:pPr>
            <a:r>
              <a:rPr sz="2000" b="0">
                <a:solidFill>
                  <a:srgbClr val="EDF0F6"/>
                </a:solidFill>
                <a:latin typeface="Inter"/>
              </a:rPr>
              <a:t>Research agent</a:t>
            </a:r>
          </a:p>
        </p:txBody>
      </p:sp>
      <p:sp>
        <p:nvSpPr>
          <p:cNvPr id="21" name="TextBox 20"/>
          <p:cNvSpPr txBox="1"/>
          <p:nvPr/>
        </p:nvSpPr>
        <p:spPr>
          <a:xfrm>
            <a:off x="16002000" y="5166360"/>
            <a:ext cx="1097280" cy="347472"/>
          </a:xfrm>
          <a:prstGeom prst="rect">
            <a:avLst/>
          </a:prstGeom>
          <a:noFill/>
        </p:spPr>
        <p:txBody>
          <a:bodyPr wrap="none" lIns="0" rIns="0" tIns="0" bIns="0" anchor="t">
            <a:spAutoFit/>
          </a:bodyPr>
          <a:lstStyle/>
          <a:p>
            <a:pPr algn="r">
              <a:lnSpc>
                <a:spcPts val="2360"/>
              </a:lnSpc>
              <a:spcBef>
                <a:spcPts val="0"/>
              </a:spcBef>
              <a:spcAft>
                <a:spcPts val="0"/>
              </a:spcAft>
            </a:pPr>
            <a:r>
              <a:rPr sz="2000" b="1">
                <a:solidFill>
                  <a:srgbClr val="EDF0F6"/>
                </a:solidFill>
                <a:latin typeface="JetBrains Mono"/>
              </a:rPr>
              <a:t>40</a:t>
            </a:r>
          </a:p>
        </p:txBody>
      </p:sp>
      <p:sp>
        <p:nvSpPr>
          <p:cNvPr id="22" name="Rectangle 21"/>
          <p:cNvSpPr/>
          <p:nvPr/>
        </p:nvSpPr>
        <p:spPr>
          <a:xfrm>
            <a:off x="12024360" y="5669280"/>
            <a:ext cx="5074920" cy="68580"/>
          </a:xfrm>
          <a:prstGeom prst="rect">
            <a:avLst/>
          </a:prstGeom>
          <a:solidFill>
            <a:srgbClr val="293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12024360" y="5669280"/>
            <a:ext cx="2011680" cy="68580"/>
          </a:xfrm>
          <a:prstGeom prst="rect">
            <a:avLst/>
          </a:prstGeom>
          <a:solidFill>
            <a:srgbClr val="3D7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2024360" y="6080760"/>
            <a:ext cx="4389120" cy="347472"/>
          </a:xfrm>
          <a:prstGeom prst="rect">
            <a:avLst/>
          </a:prstGeom>
          <a:noFill/>
        </p:spPr>
        <p:txBody>
          <a:bodyPr wrap="none" lIns="0" rIns="0" tIns="0" bIns="0" anchor="t">
            <a:spAutoFit/>
          </a:bodyPr>
          <a:lstStyle/>
          <a:p>
            <a:pPr algn="l">
              <a:lnSpc>
                <a:spcPts val="2360"/>
              </a:lnSpc>
              <a:spcBef>
                <a:spcPts val="0"/>
              </a:spcBef>
              <a:spcAft>
                <a:spcPts val="0"/>
              </a:spcAft>
            </a:pPr>
            <a:r>
              <a:rPr sz="2000" b="0">
                <a:solidFill>
                  <a:srgbClr val="EDF0F6"/>
                </a:solidFill>
                <a:latin typeface="Inter"/>
              </a:rPr>
              <a:t>Monitoring agent</a:t>
            </a:r>
          </a:p>
        </p:txBody>
      </p:sp>
      <p:sp>
        <p:nvSpPr>
          <p:cNvPr id="25" name="TextBox 24"/>
          <p:cNvSpPr txBox="1"/>
          <p:nvPr/>
        </p:nvSpPr>
        <p:spPr>
          <a:xfrm>
            <a:off x="16002000" y="6080760"/>
            <a:ext cx="1097280" cy="347472"/>
          </a:xfrm>
          <a:prstGeom prst="rect">
            <a:avLst/>
          </a:prstGeom>
          <a:noFill/>
        </p:spPr>
        <p:txBody>
          <a:bodyPr wrap="none" lIns="0" rIns="0" tIns="0" bIns="0" anchor="t">
            <a:spAutoFit/>
          </a:bodyPr>
          <a:lstStyle/>
          <a:p>
            <a:pPr algn="r">
              <a:lnSpc>
                <a:spcPts val="2360"/>
              </a:lnSpc>
              <a:spcBef>
                <a:spcPts val="0"/>
              </a:spcBef>
              <a:spcAft>
                <a:spcPts val="0"/>
              </a:spcAft>
            </a:pPr>
            <a:r>
              <a:rPr sz="2000" b="1">
                <a:solidFill>
                  <a:srgbClr val="EDF0F6"/>
                </a:solidFill>
                <a:latin typeface="JetBrains Mono"/>
              </a:rPr>
              <a:t>30</a:t>
            </a:r>
          </a:p>
        </p:txBody>
      </p:sp>
      <p:sp>
        <p:nvSpPr>
          <p:cNvPr id="26" name="Rectangle 25"/>
          <p:cNvSpPr/>
          <p:nvPr/>
        </p:nvSpPr>
        <p:spPr>
          <a:xfrm>
            <a:off x="12024360" y="6583680"/>
            <a:ext cx="5074920" cy="68580"/>
          </a:xfrm>
          <a:prstGeom prst="rect">
            <a:avLst/>
          </a:prstGeom>
          <a:solidFill>
            <a:srgbClr val="293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12024360" y="6583680"/>
            <a:ext cx="1508760" cy="68580"/>
          </a:xfrm>
          <a:prstGeom prst="rect">
            <a:avLst/>
          </a:prstGeom>
          <a:solidFill>
            <a:srgbClr val="3D7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2024360" y="6995160"/>
            <a:ext cx="4389120" cy="347472"/>
          </a:xfrm>
          <a:prstGeom prst="rect">
            <a:avLst/>
          </a:prstGeom>
          <a:noFill/>
        </p:spPr>
        <p:txBody>
          <a:bodyPr wrap="none" lIns="0" rIns="0" tIns="0" bIns="0" anchor="t">
            <a:spAutoFit/>
          </a:bodyPr>
          <a:lstStyle/>
          <a:p>
            <a:pPr algn="l">
              <a:lnSpc>
                <a:spcPts val="2360"/>
              </a:lnSpc>
              <a:spcBef>
                <a:spcPts val="0"/>
              </a:spcBef>
              <a:spcAft>
                <a:spcPts val="0"/>
              </a:spcAft>
            </a:pPr>
            <a:r>
              <a:rPr sz="2000" b="0">
                <a:solidFill>
                  <a:srgbClr val="EDF0F6"/>
                </a:solidFill>
                <a:latin typeface="Inter"/>
              </a:rPr>
              <a:t>Unallocated</a:t>
            </a:r>
          </a:p>
        </p:txBody>
      </p:sp>
      <p:sp>
        <p:nvSpPr>
          <p:cNvPr id="29" name="TextBox 28"/>
          <p:cNvSpPr txBox="1"/>
          <p:nvPr/>
        </p:nvSpPr>
        <p:spPr>
          <a:xfrm>
            <a:off x="16002000" y="6995160"/>
            <a:ext cx="1097280" cy="347472"/>
          </a:xfrm>
          <a:prstGeom prst="rect">
            <a:avLst/>
          </a:prstGeom>
          <a:noFill/>
        </p:spPr>
        <p:txBody>
          <a:bodyPr wrap="none" lIns="0" rIns="0" tIns="0" bIns="0" anchor="t">
            <a:spAutoFit/>
          </a:bodyPr>
          <a:lstStyle/>
          <a:p>
            <a:pPr algn="r">
              <a:lnSpc>
                <a:spcPts val="2360"/>
              </a:lnSpc>
              <a:spcBef>
                <a:spcPts val="0"/>
              </a:spcBef>
              <a:spcAft>
                <a:spcPts val="0"/>
              </a:spcAft>
            </a:pPr>
            <a:r>
              <a:rPr sz="2000" b="1">
                <a:solidFill>
                  <a:srgbClr val="EDF0F6"/>
                </a:solidFill>
                <a:latin typeface="JetBrains Mono"/>
              </a:rPr>
              <a:t>30</a:t>
            </a:r>
          </a:p>
        </p:txBody>
      </p:sp>
      <p:sp>
        <p:nvSpPr>
          <p:cNvPr id="30" name="Rectangle 29"/>
          <p:cNvSpPr/>
          <p:nvPr/>
        </p:nvSpPr>
        <p:spPr>
          <a:xfrm>
            <a:off x="12024360" y="7498080"/>
            <a:ext cx="5074920" cy="68580"/>
          </a:xfrm>
          <a:prstGeom prst="rect">
            <a:avLst/>
          </a:prstGeom>
          <a:solidFill>
            <a:srgbClr val="2931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2024360" y="7498080"/>
            <a:ext cx="1508760" cy="68580"/>
          </a:xfrm>
          <a:prstGeom prst="rect">
            <a:avLst/>
          </a:prstGeom>
          <a:solidFill>
            <a:srgbClr val="6269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2024360" y="8010144"/>
            <a:ext cx="5029200" cy="210312"/>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A0A9BA"/>
                </a:solidFill>
                <a:latin typeface="JetBrains Mono"/>
              </a:rPr>
              <a:t>ILLUSTRATIVE ALLOCATION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PITCH  02 / 05</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01 / THE SOLUTION</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5616"/>
              </a:lnSpc>
              <a:spcBef>
                <a:spcPts val="0"/>
              </a:spcBef>
              <a:spcAft>
                <a:spcPts val="0"/>
              </a:spcAft>
            </a:pPr>
            <a:r>
              <a:rPr sz="5200" b="1">
                <a:solidFill>
                  <a:srgbClr val="151A24"/>
                </a:solidFill>
                <a:latin typeface="Manrope"/>
              </a:rPr>
              <a:t>One shared pool.</a:t>
            </a:r>
          </a:p>
          <a:p>
            <a:pPr algn="l">
              <a:lnSpc>
                <a:spcPts val="5616"/>
              </a:lnSpc>
              <a:spcBef>
                <a:spcPts val="0"/>
              </a:spcBef>
              <a:spcAft>
                <a:spcPts val="0"/>
              </a:spcAft>
            </a:pPr>
            <a:r>
              <a:rPr sz="5200" b="1">
                <a:solidFill>
                  <a:srgbClr val="151A24"/>
                </a:solidFill>
                <a:latin typeface="Manrope"/>
              </a:rPr>
              <a:t>Every agent has limits.</a:t>
            </a:r>
          </a:p>
        </p:txBody>
      </p:sp>
      <p:sp>
        <p:nvSpPr>
          <p:cNvPr id="13" name="TextBox 12"/>
          <p:cNvSpPr txBox="1"/>
          <p:nvPr/>
        </p:nvSpPr>
        <p:spPr>
          <a:xfrm>
            <a:off x="777240" y="3547872"/>
            <a:ext cx="16459200" cy="594360"/>
          </a:xfrm>
          <a:prstGeom prst="rect">
            <a:avLst/>
          </a:prstGeom>
          <a:noFill/>
        </p:spPr>
        <p:txBody>
          <a:bodyPr wrap="none" lIns="0" rIns="0" tIns="0" bIns="0" anchor="t">
            <a:spAutoFit/>
          </a:bodyPr>
          <a:lstStyle/>
          <a:p>
            <a:pPr algn="l">
              <a:lnSpc>
                <a:spcPts val="3540"/>
              </a:lnSpc>
              <a:spcBef>
                <a:spcPts val="0"/>
              </a:spcBef>
              <a:spcAft>
                <a:spcPts val="0"/>
              </a:spcAft>
            </a:pPr>
            <a:r>
              <a:rPr sz="3000" b="0">
                <a:solidFill>
                  <a:srgbClr val="626977"/>
                </a:solidFill>
                <a:latin typeface="Inter"/>
              </a:rPr>
              <a:t>An on-chain covenant defines the spending boundary.</a:t>
            </a:r>
          </a:p>
        </p:txBody>
      </p:sp>
      <p:sp>
        <p:nvSpPr>
          <p:cNvPr id="14" name="Rounded Rectangle 13"/>
          <p:cNvSpPr/>
          <p:nvPr/>
        </p:nvSpPr>
        <p:spPr>
          <a:xfrm>
            <a:off x="777240" y="4636008"/>
            <a:ext cx="3657600" cy="1371600"/>
          </a:xfrm>
          <a:prstGeom prst="roundRect">
            <a:avLst>
              <a:gd name="adj" fmla="val 6666"/>
            </a:avLst>
          </a:pr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4873752"/>
            <a:ext cx="3063240" cy="548640"/>
          </a:xfrm>
          <a:prstGeom prst="rect">
            <a:avLst/>
          </a:prstGeom>
          <a:noFill/>
        </p:spPr>
        <p:txBody>
          <a:bodyPr wrap="none" lIns="0" rIns="0" tIns="0" bIns="0" anchor="t">
            <a:spAutoFit/>
          </a:bodyPr>
          <a:lstStyle/>
          <a:p>
            <a:pPr algn="l">
              <a:lnSpc>
                <a:spcPts val="3776"/>
              </a:lnSpc>
              <a:spcBef>
                <a:spcPts val="0"/>
              </a:spcBef>
              <a:spcAft>
                <a:spcPts val="0"/>
              </a:spcAft>
            </a:pPr>
            <a:r>
              <a:rPr sz="3200" b="1">
                <a:solidFill>
                  <a:srgbClr val="FFFFFF"/>
                </a:solidFill>
                <a:latin typeface="Manrope"/>
              </a:rPr>
              <a:t>USDC pool</a:t>
            </a:r>
          </a:p>
        </p:txBody>
      </p:sp>
      <p:sp>
        <p:nvSpPr>
          <p:cNvPr id="16" name="TextBox 15"/>
          <p:cNvSpPr txBox="1"/>
          <p:nvPr/>
        </p:nvSpPr>
        <p:spPr>
          <a:xfrm>
            <a:off x="1078992" y="5504688"/>
            <a:ext cx="3063240" cy="320040"/>
          </a:xfrm>
          <a:prstGeom prst="rect">
            <a:avLst/>
          </a:prstGeom>
          <a:noFill/>
        </p:spPr>
        <p:txBody>
          <a:bodyPr wrap="none" lIns="0" rIns="0" tIns="0" bIns="0" anchor="t">
            <a:spAutoFit/>
          </a:bodyPr>
          <a:lstStyle/>
          <a:p>
            <a:pPr algn="l">
              <a:lnSpc>
                <a:spcPts val="2360"/>
              </a:lnSpc>
              <a:spcBef>
                <a:spcPts val="0"/>
              </a:spcBef>
              <a:spcAft>
                <a:spcPts val="0"/>
              </a:spcAft>
            </a:pPr>
            <a:r>
              <a:rPr sz="2000" b="0">
                <a:solidFill>
                  <a:srgbClr val="FFFFFF"/>
                </a:solidFill>
                <a:latin typeface="Inter"/>
              </a:rPr>
              <a:t>Owner funds once</a:t>
            </a:r>
          </a:p>
        </p:txBody>
      </p:sp>
      <p:cxnSp>
        <p:nvCxnSpPr>
          <p:cNvPr id="17" name="Connector 16"/>
          <p:cNvCxnSpPr/>
          <p:nvPr/>
        </p:nvCxnSpPr>
        <p:spPr>
          <a:xfrm>
            <a:off x="4434840" y="5321808"/>
            <a:ext cx="457200" cy="0"/>
          </a:xfrm>
          <a:prstGeom prst="line">
            <a:avLst/>
          </a:prstGeom>
          <a:ln w="19050">
            <a:solidFill>
              <a:srgbClr val="014CFE"/>
            </a:solidFill>
          </a:ln>
          <a:effectLst/>
        </p:spPr>
        <p:style>
          <a:lnRef idx="2">
            <a:schemeClr val="accent1"/>
          </a:lnRef>
          <a:fillRef idx="0">
            <a:schemeClr val="accent1"/>
          </a:fillRef>
          <a:effectRef idx="0">
            <a:schemeClr val="accent1"/>
          </a:effectRef>
          <a:fontRef idx="minor">
            <a:schemeClr val="tx1"/>
          </a:fontRef>
        </p:style>
      </p:cxnSp>
      <p:sp>
        <p:nvSpPr>
          <p:cNvPr id="18" name="Freeform 17"/>
          <p:cNvSpPr/>
          <p:nvPr/>
        </p:nvSpPr>
        <p:spPr>
          <a:xfrm>
            <a:off x="4791455" y="5261457"/>
            <a:ext cx="100585" cy="120701"/>
          </a:xfrm>
          <a:custGeom>
            <a:avLst/>
            <a:gdLst/>
            <a:ahLst/>
            <a:cxnLst/>
            <a:rect l="l" t="t" r="r" b="b"/>
            <a:pathLst>
              <a:path w="100585" h="120701">
                <a:moveTo>
                  <a:pt x="100585" y="60351"/>
                </a:moveTo>
                <a:lnTo>
                  <a:pt x="0" y="0"/>
                </a:lnTo>
                <a:lnTo>
                  <a:pt x="0" y="1207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a:off x="4892040" y="4864608"/>
            <a:ext cx="0" cy="1993392"/>
          </a:xfrm>
          <a:prstGeom prst="line">
            <a:avLst/>
          </a:prstGeom>
          <a:ln w="19050">
            <a:solidFill>
              <a:srgbClr val="014CFE"/>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4892040" y="4965192"/>
            <a:ext cx="429768" cy="0"/>
          </a:xfrm>
          <a:prstGeom prst="line">
            <a:avLst/>
          </a:prstGeom>
          <a:ln w="19050">
            <a:solidFill>
              <a:srgbClr val="014CFE"/>
            </a:solidFill>
          </a:ln>
          <a:effectLst/>
        </p:spPr>
        <p:style>
          <a:lnRef idx="2">
            <a:schemeClr val="accent1"/>
          </a:lnRef>
          <a:fillRef idx="0">
            <a:schemeClr val="accent1"/>
          </a:fillRef>
          <a:effectRef idx="0">
            <a:schemeClr val="accent1"/>
          </a:effectRef>
          <a:fontRef idx="minor">
            <a:schemeClr val="tx1"/>
          </a:fontRef>
        </p:style>
      </p:cxnSp>
      <p:sp>
        <p:nvSpPr>
          <p:cNvPr id="21" name="Freeform 20"/>
          <p:cNvSpPr/>
          <p:nvPr/>
        </p:nvSpPr>
        <p:spPr>
          <a:xfrm>
            <a:off x="5221224" y="4904841"/>
            <a:ext cx="100584" cy="120701"/>
          </a:xfrm>
          <a:custGeom>
            <a:avLst/>
            <a:gdLst/>
            <a:ahLst/>
            <a:cxnLst/>
            <a:rect l="l" t="t" r="r" b="b"/>
            <a:pathLst>
              <a:path w="100584" h="120701">
                <a:moveTo>
                  <a:pt x="100584" y="60351"/>
                </a:moveTo>
                <a:lnTo>
                  <a:pt x="0" y="0"/>
                </a:lnTo>
                <a:lnTo>
                  <a:pt x="0" y="1207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5340096" y="4416552"/>
            <a:ext cx="3886200" cy="1307592"/>
          </a:xfrm>
          <a:prstGeom prst="roundRect">
            <a:avLst>
              <a:gd name="adj" fmla="val 6993"/>
            </a:avLst>
          </a:prstGeom>
          <a:solidFill>
            <a:srgbClr val="FFFFFF"/>
          </a:solidFill>
          <a:ln w="12700">
            <a:solidFill>
              <a:srgbClr val="E3E5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623560" y="4617720"/>
            <a:ext cx="3200400" cy="493776"/>
          </a:xfrm>
          <a:prstGeom prst="rect">
            <a:avLst/>
          </a:prstGeom>
          <a:noFill/>
        </p:spPr>
        <p:txBody>
          <a:bodyPr wrap="none" lIns="0" rIns="0" tIns="0" bIns="0" anchor="t">
            <a:spAutoFit/>
          </a:bodyPr>
          <a:lstStyle/>
          <a:p>
            <a:pPr algn="l">
              <a:lnSpc>
                <a:spcPts val="3540"/>
              </a:lnSpc>
              <a:spcBef>
                <a:spcPts val="0"/>
              </a:spcBef>
              <a:spcAft>
                <a:spcPts val="0"/>
              </a:spcAft>
            </a:pPr>
            <a:r>
              <a:rPr sz="3000" b="1">
                <a:solidFill>
                  <a:srgbClr val="151A24"/>
                </a:solidFill>
                <a:latin typeface="Manrope"/>
              </a:rPr>
              <a:t>Agent A</a:t>
            </a:r>
          </a:p>
        </p:txBody>
      </p:sp>
      <p:sp>
        <p:nvSpPr>
          <p:cNvPr id="24" name="TextBox 23"/>
          <p:cNvSpPr txBox="1"/>
          <p:nvPr/>
        </p:nvSpPr>
        <p:spPr>
          <a:xfrm>
            <a:off x="5623560" y="5221224"/>
            <a:ext cx="3291840" cy="320040"/>
          </a:xfrm>
          <a:prstGeom prst="rect">
            <a:avLst/>
          </a:prstGeom>
          <a:noFill/>
        </p:spPr>
        <p:txBody>
          <a:bodyPr wrap="none" lIns="0" rIns="0" tIns="0" bIns="0" anchor="t">
            <a:spAutoFit/>
          </a:bodyPr>
          <a:lstStyle/>
          <a:p>
            <a:pPr algn="l">
              <a:lnSpc>
                <a:spcPts val="2242"/>
              </a:lnSpc>
              <a:spcBef>
                <a:spcPts val="0"/>
              </a:spcBef>
              <a:spcAft>
                <a:spcPts val="0"/>
              </a:spcAft>
            </a:pPr>
            <a:r>
              <a:rPr sz="1900" b="0">
                <a:solidFill>
                  <a:srgbClr val="626977"/>
                </a:solidFill>
                <a:latin typeface="Inter"/>
              </a:rPr>
              <a:t>Own smart account</a:t>
            </a:r>
          </a:p>
        </p:txBody>
      </p:sp>
      <p:cxnSp>
        <p:nvCxnSpPr>
          <p:cNvPr id="25" name="Connector 24"/>
          <p:cNvCxnSpPr/>
          <p:nvPr/>
        </p:nvCxnSpPr>
        <p:spPr>
          <a:xfrm>
            <a:off x="4892040" y="6812279"/>
            <a:ext cx="429768" cy="0"/>
          </a:xfrm>
          <a:prstGeom prst="line">
            <a:avLst/>
          </a:prstGeom>
          <a:ln w="19050">
            <a:solidFill>
              <a:srgbClr val="014CFE"/>
            </a:solidFill>
          </a:ln>
          <a:effectLst/>
        </p:spPr>
        <p:style>
          <a:lnRef idx="2">
            <a:schemeClr val="accent1"/>
          </a:lnRef>
          <a:fillRef idx="0">
            <a:schemeClr val="accent1"/>
          </a:fillRef>
          <a:effectRef idx="0">
            <a:schemeClr val="accent1"/>
          </a:effectRef>
          <a:fontRef idx="minor">
            <a:schemeClr val="tx1"/>
          </a:fontRef>
        </p:style>
      </p:cxnSp>
      <p:sp>
        <p:nvSpPr>
          <p:cNvPr id="26" name="Freeform 25"/>
          <p:cNvSpPr/>
          <p:nvPr/>
        </p:nvSpPr>
        <p:spPr>
          <a:xfrm>
            <a:off x="5221224" y="6751929"/>
            <a:ext cx="100584" cy="120701"/>
          </a:xfrm>
          <a:custGeom>
            <a:avLst/>
            <a:gdLst/>
            <a:ahLst/>
            <a:cxnLst/>
            <a:rect l="l" t="t" r="r" b="b"/>
            <a:pathLst>
              <a:path w="100584" h="120701">
                <a:moveTo>
                  <a:pt x="100584" y="60350"/>
                </a:moveTo>
                <a:lnTo>
                  <a:pt x="0" y="0"/>
                </a:lnTo>
                <a:lnTo>
                  <a:pt x="0" y="1207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5340096" y="6263640"/>
            <a:ext cx="3886200" cy="1307592"/>
          </a:xfrm>
          <a:prstGeom prst="roundRect">
            <a:avLst>
              <a:gd name="adj" fmla="val 6993"/>
            </a:avLst>
          </a:prstGeom>
          <a:solidFill>
            <a:srgbClr val="FFFFFF"/>
          </a:solidFill>
          <a:ln w="12700">
            <a:solidFill>
              <a:srgbClr val="E3E5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623560" y="6464807"/>
            <a:ext cx="3200400" cy="493776"/>
          </a:xfrm>
          <a:prstGeom prst="rect">
            <a:avLst/>
          </a:prstGeom>
          <a:noFill/>
        </p:spPr>
        <p:txBody>
          <a:bodyPr wrap="none" lIns="0" rIns="0" tIns="0" bIns="0" anchor="t">
            <a:spAutoFit/>
          </a:bodyPr>
          <a:lstStyle/>
          <a:p>
            <a:pPr algn="l">
              <a:lnSpc>
                <a:spcPts val="3540"/>
              </a:lnSpc>
              <a:spcBef>
                <a:spcPts val="0"/>
              </a:spcBef>
              <a:spcAft>
                <a:spcPts val="0"/>
              </a:spcAft>
            </a:pPr>
            <a:r>
              <a:rPr sz="3000" b="1">
                <a:solidFill>
                  <a:srgbClr val="151A24"/>
                </a:solidFill>
                <a:latin typeface="Manrope"/>
              </a:rPr>
              <a:t>Agent B</a:t>
            </a:r>
          </a:p>
        </p:txBody>
      </p:sp>
      <p:sp>
        <p:nvSpPr>
          <p:cNvPr id="29" name="TextBox 28"/>
          <p:cNvSpPr txBox="1"/>
          <p:nvPr/>
        </p:nvSpPr>
        <p:spPr>
          <a:xfrm>
            <a:off x="5623560" y="7068312"/>
            <a:ext cx="3291840" cy="320040"/>
          </a:xfrm>
          <a:prstGeom prst="rect">
            <a:avLst/>
          </a:prstGeom>
          <a:noFill/>
        </p:spPr>
        <p:txBody>
          <a:bodyPr wrap="none" lIns="0" rIns="0" tIns="0" bIns="0" anchor="t">
            <a:spAutoFit/>
          </a:bodyPr>
          <a:lstStyle/>
          <a:p>
            <a:pPr algn="l">
              <a:lnSpc>
                <a:spcPts val="2242"/>
              </a:lnSpc>
              <a:spcBef>
                <a:spcPts val="0"/>
              </a:spcBef>
              <a:spcAft>
                <a:spcPts val="0"/>
              </a:spcAft>
            </a:pPr>
            <a:r>
              <a:rPr sz="1900" b="0">
                <a:solidFill>
                  <a:srgbClr val="626977"/>
                </a:solidFill>
                <a:latin typeface="Inter"/>
              </a:rPr>
              <a:t>Own smart account</a:t>
            </a:r>
          </a:p>
        </p:txBody>
      </p:sp>
      <p:sp>
        <p:nvSpPr>
          <p:cNvPr id="30" name="TextBox 29"/>
          <p:cNvSpPr txBox="1"/>
          <p:nvPr/>
        </p:nvSpPr>
        <p:spPr>
          <a:xfrm>
            <a:off x="777240" y="7973568"/>
            <a:ext cx="9326880" cy="932688"/>
          </a:xfrm>
          <a:prstGeom prst="rect">
            <a:avLst/>
          </a:prstGeom>
          <a:noFill/>
        </p:spPr>
        <p:txBody>
          <a:bodyPr wrap="none" lIns="0" rIns="0" tIns="0" bIns="0" anchor="t">
            <a:spAutoFit/>
          </a:bodyPr>
          <a:lstStyle/>
          <a:p>
            <a:pPr algn="l">
              <a:lnSpc>
                <a:spcPts val="3068"/>
              </a:lnSpc>
              <a:spcBef>
                <a:spcPts val="0"/>
              </a:spcBef>
              <a:spcAft>
                <a:spcPts val="0"/>
              </a:spcAft>
            </a:pPr>
            <a:r>
              <a:rPr sz="2600" b="1">
                <a:solidFill>
                  <a:srgbClr val="151A24"/>
                </a:solidFill>
                <a:latin typeface="Inter"/>
              </a:rPr>
              <a:t>Delegate smaller budgets.</a:t>
            </a:r>
          </a:p>
          <a:p>
            <a:pPr algn="l">
              <a:lnSpc>
                <a:spcPts val="3068"/>
              </a:lnSpc>
              <a:spcBef>
                <a:spcPts val="0"/>
              </a:spcBef>
              <a:spcAft>
                <a:spcPts val="0"/>
              </a:spcAft>
            </a:pPr>
            <a:r>
              <a:rPr sz="2600" b="1">
                <a:solidFill>
                  <a:srgbClr val="151A24"/>
                </a:solidFill>
                <a:latin typeface="Inter"/>
              </a:rPr>
              <a:t>Revoke and recover unused funds.</a:t>
            </a:r>
          </a:p>
        </p:txBody>
      </p:sp>
      <p:sp>
        <p:nvSpPr>
          <p:cNvPr id="31" name="Rounded Rectangle 30"/>
          <p:cNvSpPr/>
          <p:nvPr/>
        </p:nvSpPr>
        <p:spPr>
          <a:xfrm>
            <a:off x="10104120" y="4453128"/>
            <a:ext cx="7452360" cy="4526280"/>
          </a:xfrm>
          <a:prstGeom prst="roundRect">
            <a:avLst>
              <a:gd name="adj" fmla="val 2424"/>
            </a:avLst>
          </a:prstGeom>
          <a:solidFill>
            <a:srgbClr val="FFFFFF"/>
          </a:solidFill>
          <a:ln w="12700">
            <a:solidFill>
              <a:srgbClr val="E3E5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0497312" y="4818888"/>
            <a:ext cx="658368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EACH AGENT’S COVENANT</a:t>
            </a:r>
          </a:p>
        </p:txBody>
      </p:sp>
      <p:sp>
        <p:nvSpPr>
          <p:cNvPr id="33" name="TextBox 32"/>
          <p:cNvSpPr txBox="1"/>
          <p:nvPr/>
        </p:nvSpPr>
        <p:spPr>
          <a:xfrm>
            <a:off x="10497312" y="5522976"/>
            <a:ext cx="2377440" cy="438912"/>
          </a:xfrm>
          <a:prstGeom prst="rect">
            <a:avLst/>
          </a:prstGeom>
          <a:noFill/>
        </p:spPr>
        <p:txBody>
          <a:bodyPr wrap="none" lIns="0" rIns="0" tIns="0" bIns="0" anchor="t">
            <a:spAutoFit/>
          </a:bodyPr>
          <a:lstStyle/>
          <a:p>
            <a:pPr algn="l">
              <a:lnSpc>
                <a:spcPts val="2832"/>
              </a:lnSpc>
              <a:spcBef>
                <a:spcPts val="0"/>
              </a:spcBef>
              <a:spcAft>
                <a:spcPts val="0"/>
              </a:spcAft>
            </a:pPr>
            <a:r>
              <a:rPr sz="2400" b="0">
                <a:solidFill>
                  <a:srgbClr val="626977"/>
                </a:solidFill>
                <a:latin typeface="Inter"/>
              </a:rPr>
              <a:t>Who</a:t>
            </a:r>
          </a:p>
        </p:txBody>
      </p:sp>
      <p:sp>
        <p:nvSpPr>
          <p:cNvPr id="34" name="TextBox 33"/>
          <p:cNvSpPr txBox="1"/>
          <p:nvPr/>
        </p:nvSpPr>
        <p:spPr>
          <a:xfrm>
            <a:off x="12874752" y="5522976"/>
            <a:ext cx="4370832" cy="438912"/>
          </a:xfrm>
          <a:prstGeom prst="rect">
            <a:avLst/>
          </a:prstGeom>
          <a:noFill/>
        </p:spPr>
        <p:txBody>
          <a:bodyPr wrap="none" lIns="0" rIns="0" tIns="0" bIns="0" anchor="t">
            <a:spAutoFit/>
          </a:bodyPr>
          <a:lstStyle/>
          <a:p>
            <a:pPr algn="l">
              <a:lnSpc>
                <a:spcPts val="2832"/>
              </a:lnSpc>
              <a:spcBef>
                <a:spcPts val="0"/>
              </a:spcBef>
              <a:spcAft>
                <a:spcPts val="0"/>
              </a:spcAft>
            </a:pPr>
            <a:r>
              <a:rPr sz="2400" b="1">
                <a:solidFill>
                  <a:srgbClr val="151A24"/>
                </a:solidFill>
                <a:latin typeface="Inter"/>
              </a:rPr>
              <a:t>Approved payees</a:t>
            </a:r>
          </a:p>
        </p:txBody>
      </p:sp>
      <p:cxnSp>
        <p:nvCxnSpPr>
          <p:cNvPr id="35" name="Connector 34"/>
          <p:cNvCxnSpPr/>
          <p:nvPr/>
        </p:nvCxnSpPr>
        <p:spPr>
          <a:xfrm>
            <a:off x="10497312" y="6108192"/>
            <a:ext cx="6647688"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10497312" y="6263640"/>
            <a:ext cx="2377440" cy="438912"/>
          </a:xfrm>
          <a:prstGeom prst="rect">
            <a:avLst/>
          </a:prstGeom>
          <a:noFill/>
        </p:spPr>
        <p:txBody>
          <a:bodyPr wrap="none" lIns="0" rIns="0" tIns="0" bIns="0" anchor="t">
            <a:spAutoFit/>
          </a:bodyPr>
          <a:lstStyle/>
          <a:p>
            <a:pPr algn="l">
              <a:lnSpc>
                <a:spcPts val="2832"/>
              </a:lnSpc>
              <a:spcBef>
                <a:spcPts val="0"/>
              </a:spcBef>
              <a:spcAft>
                <a:spcPts val="0"/>
              </a:spcAft>
            </a:pPr>
            <a:r>
              <a:rPr sz="2400" b="0">
                <a:solidFill>
                  <a:srgbClr val="626977"/>
                </a:solidFill>
                <a:latin typeface="Inter"/>
              </a:rPr>
              <a:t>How much</a:t>
            </a:r>
          </a:p>
        </p:txBody>
      </p:sp>
      <p:sp>
        <p:nvSpPr>
          <p:cNvPr id="37" name="TextBox 36"/>
          <p:cNvSpPr txBox="1"/>
          <p:nvPr/>
        </p:nvSpPr>
        <p:spPr>
          <a:xfrm>
            <a:off x="12874752" y="6263640"/>
            <a:ext cx="4370832" cy="438912"/>
          </a:xfrm>
          <a:prstGeom prst="rect">
            <a:avLst/>
          </a:prstGeom>
          <a:noFill/>
        </p:spPr>
        <p:txBody>
          <a:bodyPr wrap="none" lIns="0" rIns="0" tIns="0" bIns="0" anchor="t">
            <a:spAutoFit/>
          </a:bodyPr>
          <a:lstStyle/>
          <a:p>
            <a:pPr algn="l">
              <a:lnSpc>
                <a:spcPts val="2832"/>
              </a:lnSpc>
              <a:spcBef>
                <a:spcPts val="0"/>
              </a:spcBef>
              <a:spcAft>
                <a:spcPts val="0"/>
              </a:spcAft>
            </a:pPr>
            <a:r>
              <a:rPr sz="2400" b="1">
                <a:solidFill>
                  <a:srgbClr val="151A24"/>
                </a:solidFill>
                <a:latin typeface="Inter"/>
              </a:rPr>
              <a:t>Payment + total caps</a:t>
            </a:r>
          </a:p>
        </p:txBody>
      </p:sp>
      <p:cxnSp>
        <p:nvCxnSpPr>
          <p:cNvPr id="38" name="Connector 37"/>
          <p:cNvCxnSpPr/>
          <p:nvPr/>
        </p:nvCxnSpPr>
        <p:spPr>
          <a:xfrm>
            <a:off x="10497312" y="6848855"/>
            <a:ext cx="6647688"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0497312" y="7004304"/>
            <a:ext cx="2377440" cy="438912"/>
          </a:xfrm>
          <a:prstGeom prst="rect">
            <a:avLst/>
          </a:prstGeom>
          <a:noFill/>
        </p:spPr>
        <p:txBody>
          <a:bodyPr wrap="none" lIns="0" rIns="0" tIns="0" bIns="0" anchor="t">
            <a:spAutoFit/>
          </a:bodyPr>
          <a:lstStyle/>
          <a:p>
            <a:pPr algn="l">
              <a:lnSpc>
                <a:spcPts val="2832"/>
              </a:lnSpc>
              <a:spcBef>
                <a:spcPts val="0"/>
              </a:spcBef>
              <a:spcAft>
                <a:spcPts val="0"/>
              </a:spcAft>
            </a:pPr>
            <a:r>
              <a:rPr sz="2400" b="0">
                <a:solidFill>
                  <a:srgbClr val="626977"/>
                </a:solidFill>
                <a:latin typeface="Inter"/>
              </a:rPr>
              <a:t>Until when</a:t>
            </a:r>
          </a:p>
        </p:txBody>
      </p:sp>
      <p:sp>
        <p:nvSpPr>
          <p:cNvPr id="40" name="TextBox 39"/>
          <p:cNvSpPr txBox="1"/>
          <p:nvPr/>
        </p:nvSpPr>
        <p:spPr>
          <a:xfrm>
            <a:off x="12874752" y="7004304"/>
            <a:ext cx="4370832" cy="438912"/>
          </a:xfrm>
          <a:prstGeom prst="rect">
            <a:avLst/>
          </a:prstGeom>
          <a:noFill/>
        </p:spPr>
        <p:txBody>
          <a:bodyPr wrap="none" lIns="0" rIns="0" tIns="0" bIns="0" anchor="t">
            <a:spAutoFit/>
          </a:bodyPr>
          <a:lstStyle/>
          <a:p>
            <a:pPr algn="l">
              <a:lnSpc>
                <a:spcPts val="2832"/>
              </a:lnSpc>
              <a:spcBef>
                <a:spcPts val="0"/>
              </a:spcBef>
              <a:spcAft>
                <a:spcPts val="0"/>
              </a:spcAft>
            </a:pPr>
            <a:r>
              <a:rPr sz="2400" b="1">
                <a:solidFill>
                  <a:srgbClr val="151A24"/>
                </a:solidFill>
                <a:latin typeface="Inter"/>
              </a:rPr>
              <a:t>Expiry + revocation</a:t>
            </a:r>
          </a:p>
        </p:txBody>
      </p:sp>
      <p:cxnSp>
        <p:nvCxnSpPr>
          <p:cNvPr id="41" name="Connector 40"/>
          <p:cNvCxnSpPr/>
          <p:nvPr/>
        </p:nvCxnSpPr>
        <p:spPr>
          <a:xfrm>
            <a:off x="10497312" y="7589520"/>
            <a:ext cx="6647688"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10497312" y="8001000"/>
            <a:ext cx="6583680" cy="502920"/>
          </a:xfrm>
          <a:prstGeom prst="rect">
            <a:avLst/>
          </a:prstGeom>
          <a:noFill/>
        </p:spPr>
        <p:txBody>
          <a:bodyPr wrap="none" lIns="0" rIns="0" tIns="0" bIns="0" anchor="t">
            <a:spAutoFit/>
          </a:bodyPr>
          <a:lstStyle/>
          <a:p>
            <a:pPr algn="l">
              <a:lnSpc>
                <a:spcPts val="2950"/>
              </a:lnSpc>
              <a:spcBef>
                <a:spcPts val="0"/>
              </a:spcBef>
              <a:spcAft>
                <a:spcPts val="0"/>
              </a:spcAft>
            </a:pPr>
            <a:r>
              <a:rPr sz="2500" b="1">
                <a:solidFill>
                  <a:srgbClr val="014CFE"/>
                </a:solidFill>
                <a:latin typeface="Inter"/>
              </a:rPr>
              <a:t>Agent cannot remove its policy.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PITCH  03 / 05</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02 / PMF</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5616"/>
              </a:lnSpc>
              <a:spcBef>
                <a:spcPts val="0"/>
              </a:spcBef>
              <a:spcAft>
                <a:spcPts val="0"/>
              </a:spcAft>
            </a:pPr>
            <a:r>
              <a:rPr sz="5200" b="1">
                <a:solidFill>
                  <a:srgbClr val="151A24"/>
                </a:solidFill>
                <a:latin typeface="Manrope"/>
              </a:rPr>
              <a:t>Agents can pay.</a:t>
            </a:r>
          </a:p>
          <a:p>
            <a:pPr algn="l">
              <a:lnSpc>
                <a:spcPts val="5616"/>
              </a:lnSpc>
              <a:spcBef>
                <a:spcPts val="0"/>
              </a:spcBef>
              <a:spcAft>
                <a:spcPts val="0"/>
              </a:spcAft>
            </a:pPr>
            <a:r>
              <a:rPr sz="5200" b="1">
                <a:solidFill>
                  <a:srgbClr val="151A24"/>
                </a:solidFill>
                <a:latin typeface="Manrope"/>
              </a:rPr>
              <a:t>Teams need control.</a:t>
            </a:r>
          </a:p>
        </p:txBody>
      </p:sp>
      <p:sp>
        <p:nvSpPr>
          <p:cNvPr id="13" name="TextBox 12"/>
          <p:cNvSpPr txBox="1"/>
          <p:nvPr/>
        </p:nvSpPr>
        <p:spPr>
          <a:xfrm>
            <a:off x="777240" y="3584448"/>
            <a:ext cx="16642080" cy="594360"/>
          </a:xfrm>
          <a:prstGeom prst="rect">
            <a:avLst/>
          </a:prstGeom>
          <a:noFill/>
        </p:spPr>
        <p:txBody>
          <a:bodyPr wrap="none" lIns="0" rIns="0" tIns="0" bIns="0" anchor="t">
            <a:spAutoFit/>
          </a:bodyPr>
          <a:lstStyle/>
          <a:p>
            <a:pPr algn="l">
              <a:lnSpc>
                <a:spcPts val="3540"/>
              </a:lnSpc>
              <a:spcBef>
                <a:spcPts val="0"/>
              </a:spcBef>
              <a:spcAft>
                <a:spcPts val="0"/>
              </a:spcAft>
            </a:pPr>
            <a:r>
              <a:rPr sz="3000" b="0">
                <a:solidFill>
                  <a:srgbClr val="626977"/>
                </a:solidFill>
                <a:latin typeface="Inter"/>
              </a:rPr>
              <a:t>First users: developers whose agents buy data, APIs and compute.</a:t>
            </a:r>
          </a:p>
        </p:txBody>
      </p:sp>
      <p:sp>
        <p:nvSpPr>
          <p:cNvPr id="14" name="TextBox 13"/>
          <p:cNvSpPr txBox="1"/>
          <p:nvPr/>
        </p:nvSpPr>
        <p:spPr>
          <a:xfrm>
            <a:off x="777240" y="4617720"/>
            <a:ext cx="7498079"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THE WORKFLOW TODAY</a:t>
            </a:r>
          </a:p>
        </p:txBody>
      </p:sp>
      <p:sp>
        <p:nvSpPr>
          <p:cNvPr id="15" name="TextBox 14"/>
          <p:cNvSpPr txBox="1"/>
          <p:nvPr/>
        </p:nvSpPr>
        <p:spPr>
          <a:xfrm>
            <a:off x="777240" y="5212080"/>
            <a:ext cx="640080" cy="457200"/>
          </a:xfrm>
          <a:prstGeom prst="rect">
            <a:avLst/>
          </a:prstGeom>
          <a:noFill/>
        </p:spPr>
        <p:txBody>
          <a:bodyPr wrap="none" lIns="0" rIns="0" tIns="0" bIns="0" anchor="t">
            <a:spAutoFit/>
          </a:bodyPr>
          <a:lstStyle/>
          <a:p>
            <a:pPr algn="l">
              <a:lnSpc>
                <a:spcPts val="2360"/>
              </a:lnSpc>
              <a:spcBef>
                <a:spcPts val="0"/>
              </a:spcBef>
              <a:spcAft>
                <a:spcPts val="0"/>
              </a:spcAft>
            </a:pPr>
            <a:r>
              <a:rPr sz="2000" b="1">
                <a:solidFill>
                  <a:srgbClr val="626977"/>
                </a:solidFill>
                <a:latin typeface="JetBrains Mono"/>
              </a:rPr>
              <a:t>01</a:t>
            </a:r>
          </a:p>
        </p:txBody>
      </p:sp>
      <p:sp>
        <p:nvSpPr>
          <p:cNvPr id="16" name="TextBox 15"/>
          <p:cNvSpPr txBox="1"/>
          <p:nvPr/>
        </p:nvSpPr>
        <p:spPr>
          <a:xfrm>
            <a:off x="1554480" y="5166360"/>
            <a:ext cx="6949440" cy="566928"/>
          </a:xfrm>
          <a:prstGeom prst="rect">
            <a:avLst/>
          </a:prstGeom>
          <a:noFill/>
        </p:spPr>
        <p:txBody>
          <a:bodyPr wrap="none" lIns="0" rIns="0" tIns="0" bIns="0" anchor="t">
            <a:spAutoFit/>
          </a:bodyPr>
          <a:lstStyle/>
          <a:p>
            <a:pPr algn="l">
              <a:lnSpc>
                <a:spcPts val="3776"/>
              </a:lnSpc>
              <a:spcBef>
                <a:spcPts val="0"/>
              </a:spcBef>
              <a:spcAft>
                <a:spcPts val="0"/>
              </a:spcAft>
            </a:pPr>
            <a:r>
              <a:rPr sz="3200" b="1">
                <a:solidFill>
                  <a:srgbClr val="151A24"/>
                </a:solidFill>
                <a:latin typeface="Manrope"/>
              </a:rPr>
              <a:t>Fund a wallet</a:t>
            </a:r>
          </a:p>
        </p:txBody>
      </p:sp>
      <p:sp>
        <p:nvSpPr>
          <p:cNvPr id="17" name="TextBox 16"/>
          <p:cNvSpPr txBox="1"/>
          <p:nvPr/>
        </p:nvSpPr>
        <p:spPr>
          <a:xfrm>
            <a:off x="1554480" y="5824728"/>
            <a:ext cx="7406640" cy="548640"/>
          </a:xfrm>
          <a:prstGeom prst="rect">
            <a:avLst/>
          </a:prstGeom>
          <a:noFill/>
        </p:spPr>
        <p:txBody>
          <a:bodyPr wrap="none" lIns="0" rIns="0" tIns="0" bIns="0" anchor="t">
            <a:spAutoFit/>
          </a:bodyPr>
          <a:lstStyle/>
          <a:p>
            <a:pPr algn="l">
              <a:lnSpc>
                <a:spcPts val="2950"/>
              </a:lnSpc>
              <a:spcBef>
                <a:spcPts val="0"/>
              </a:spcBef>
              <a:spcAft>
                <a:spcPts val="0"/>
              </a:spcAft>
            </a:pPr>
            <a:r>
              <a:rPr sz="2500" b="0">
                <a:solidFill>
                  <a:srgbClr val="626977"/>
                </a:solidFill>
                <a:latin typeface="Inter"/>
              </a:rPr>
              <a:t>Expose the balance to mistakes.</a:t>
            </a:r>
          </a:p>
        </p:txBody>
      </p:sp>
      <p:sp>
        <p:nvSpPr>
          <p:cNvPr id="18" name="TextBox 17"/>
          <p:cNvSpPr txBox="1"/>
          <p:nvPr/>
        </p:nvSpPr>
        <p:spPr>
          <a:xfrm>
            <a:off x="777240" y="6519672"/>
            <a:ext cx="640080" cy="457200"/>
          </a:xfrm>
          <a:prstGeom prst="rect">
            <a:avLst/>
          </a:prstGeom>
          <a:noFill/>
        </p:spPr>
        <p:txBody>
          <a:bodyPr wrap="none" lIns="0" rIns="0" tIns="0" bIns="0" anchor="t">
            <a:spAutoFit/>
          </a:bodyPr>
          <a:lstStyle/>
          <a:p>
            <a:pPr algn="l">
              <a:lnSpc>
                <a:spcPts val="2360"/>
              </a:lnSpc>
              <a:spcBef>
                <a:spcPts val="0"/>
              </a:spcBef>
              <a:spcAft>
                <a:spcPts val="0"/>
              </a:spcAft>
            </a:pPr>
            <a:r>
              <a:rPr sz="2000" b="1">
                <a:solidFill>
                  <a:srgbClr val="626977"/>
                </a:solidFill>
                <a:latin typeface="JetBrains Mono"/>
              </a:rPr>
              <a:t>02</a:t>
            </a:r>
          </a:p>
        </p:txBody>
      </p:sp>
      <p:sp>
        <p:nvSpPr>
          <p:cNvPr id="19" name="TextBox 18"/>
          <p:cNvSpPr txBox="1"/>
          <p:nvPr/>
        </p:nvSpPr>
        <p:spPr>
          <a:xfrm>
            <a:off x="1554480" y="6473952"/>
            <a:ext cx="6949440" cy="566928"/>
          </a:xfrm>
          <a:prstGeom prst="rect">
            <a:avLst/>
          </a:prstGeom>
          <a:noFill/>
        </p:spPr>
        <p:txBody>
          <a:bodyPr wrap="none" lIns="0" rIns="0" tIns="0" bIns="0" anchor="t">
            <a:spAutoFit/>
          </a:bodyPr>
          <a:lstStyle/>
          <a:p>
            <a:pPr algn="l">
              <a:lnSpc>
                <a:spcPts val="3776"/>
              </a:lnSpc>
              <a:spcBef>
                <a:spcPts val="0"/>
              </a:spcBef>
              <a:spcAft>
                <a:spcPts val="0"/>
              </a:spcAft>
            </a:pPr>
            <a:r>
              <a:rPr sz="3200" b="1">
                <a:solidFill>
                  <a:srgbClr val="151A24"/>
                </a:solidFill>
                <a:latin typeface="Manrope"/>
              </a:rPr>
              <a:t>Approve every refill</a:t>
            </a:r>
          </a:p>
        </p:txBody>
      </p:sp>
      <p:sp>
        <p:nvSpPr>
          <p:cNvPr id="20" name="TextBox 19"/>
          <p:cNvSpPr txBox="1"/>
          <p:nvPr/>
        </p:nvSpPr>
        <p:spPr>
          <a:xfrm>
            <a:off x="1554480" y="7132320"/>
            <a:ext cx="7406640" cy="548640"/>
          </a:xfrm>
          <a:prstGeom prst="rect">
            <a:avLst/>
          </a:prstGeom>
          <a:noFill/>
        </p:spPr>
        <p:txBody>
          <a:bodyPr wrap="none" lIns="0" rIns="0" tIns="0" bIns="0" anchor="t">
            <a:spAutoFit/>
          </a:bodyPr>
          <a:lstStyle/>
          <a:p>
            <a:pPr algn="l">
              <a:lnSpc>
                <a:spcPts val="2950"/>
              </a:lnSpc>
              <a:spcBef>
                <a:spcPts val="0"/>
              </a:spcBef>
              <a:spcAft>
                <a:spcPts val="0"/>
              </a:spcAft>
            </a:pPr>
            <a:r>
              <a:rPr sz="2500" b="0">
                <a:solidFill>
                  <a:srgbClr val="626977"/>
                </a:solidFill>
                <a:latin typeface="Inter"/>
              </a:rPr>
              <a:t>Put a human back in the loop.</a:t>
            </a:r>
          </a:p>
        </p:txBody>
      </p:sp>
      <p:sp>
        <p:nvSpPr>
          <p:cNvPr id="21" name="Rounded Rectangle 20"/>
          <p:cNvSpPr/>
          <p:nvPr/>
        </p:nvSpPr>
        <p:spPr>
          <a:xfrm>
            <a:off x="9692640" y="4572000"/>
            <a:ext cx="7863840" cy="3429000"/>
          </a:xfrm>
          <a:prstGeom prst="roundRect">
            <a:avLst>
              <a:gd name="adj" fmla="val 32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0104120" y="4937760"/>
            <a:ext cx="704088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KOVAN’S STARTING POINT</a:t>
            </a:r>
          </a:p>
        </p:txBody>
      </p:sp>
      <p:sp>
        <p:nvSpPr>
          <p:cNvPr id="23" name="TextBox 22"/>
          <p:cNvSpPr txBox="1"/>
          <p:nvPr/>
        </p:nvSpPr>
        <p:spPr>
          <a:xfrm>
            <a:off x="10104120" y="5486400"/>
            <a:ext cx="7040880" cy="1463040"/>
          </a:xfrm>
          <a:prstGeom prst="rect">
            <a:avLst/>
          </a:prstGeom>
          <a:noFill/>
        </p:spPr>
        <p:txBody>
          <a:bodyPr wrap="none" lIns="0" rIns="0" tIns="0" bIns="0" anchor="t">
            <a:spAutoFit/>
          </a:bodyPr>
          <a:lstStyle/>
          <a:p>
            <a:pPr algn="l">
              <a:lnSpc>
                <a:spcPts val="4320"/>
              </a:lnSpc>
              <a:spcBef>
                <a:spcPts val="0"/>
              </a:spcBef>
              <a:spcAft>
                <a:spcPts val="0"/>
              </a:spcAft>
            </a:pPr>
            <a:r>
              <a:rPr sz="3600" b="1">
                <a:solidFill>
                  <a:srgbClr val="151A24"/>
                </a:solidFill>
                <a:latin typeface="Manrope"/>
              </a:rPr>
              <a:t>Authorize a budget.</a:t>
            </a:r>
          </a:p>
          <a:p>
            <a:pPr algn="l">
              <a:lnSpc>
                <a:spcPts val="4320"/>
              </a:lnSpc>
              <a:spcBef>
                <a:spcPts val="0"/>
              </a:spcBef>
              <a:spcAft>
                <a:spcPts val="0"/>
              </a:spcAft>
            </a:pPr>
            <a:r>
              <a:rPr sz="3600" b="1">
                <a:solidFill>
                  <a:srgbClr val="151A24"/>
                </a:solidFill>
                <a:latin typeface="Manrope"/>
              </a:rPr>
              <a:t>Let the agent execute.</a:t>
            </a:r>
          </a:p>
        </p:txBody>
      </p:sp>
      <p:sp>
        <p:nvSpPr>
          <p:cNvPr id="24" name="TextBox 23"/>
          <p:cNvSpPr txBox="1"/>
          <p:nvPr/>
        </p:nvSpPr>
        <p:spPr>
          <a:xfrm>
            <a:off x="10104120" y="7269480"/>
            <a:ext cx="7086600" cy="457200"/>
          </a:xfrm>
          <a:prstGeom prst="rect">
            <a:avLst/>
          </a:prstGeom>
          <a:noFill/>
        </p:spPr>
        <p:txBody>
          <a:bodyPr wrap="none" lIns="0" rIns="0" tIns="0" bIns="0" anchor="t">
            <a:spAutoFit/>
          </a:bodyPr>
          <a:lstStyle/>
          <a:p>
            <a:pPr algn="l">
              <a:lnSpc>
                <a:spcPts val="2713"/>
              </a:lnSpc>
              <a:spcBef>
                <a:spcPts val="0"/>
              </a:spcBef>
              <a:spcAft>
                <a:spcPts val="0"/>
              </a:spcAft>
            </a:pPr>
            <a:r>
              <a:rPr sz="2300" b="1">
                <a:solidFill>
                  <a:srgbClr val="014CFE"/>
                </a:solidFill>
                <a:latin typeface="Inter"/>
              </a:rPr>
              <a:t>One pool · scoped wallets · recovery</a:t>
            </a:r>
          </a:p>
        </p:txBody>
      </p:sp>
      <p:cxnSp>
        <p:nvCxnSpPr>
          <p:cNvPr id="25" name="Connector 24"/>
          <p:cNvCxnSpPr/>
          <p:nvPr/>
        </p:nvCxnSpPr>
        <p:spPr>
          <a:xfrm>
            <a:off x="777240" y="8366760"/>
            <a:ext cx="1677924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77240" y="8613648"/>
            <a:ext cx="2286000" cy="32004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WHY NOW</a:t>
            </a:r>
          </a:p>
        </p:txBody>
      </p:sp>
      <p:sp>
        <p:nvSpPr>
          <p:cNvPr id="27" name="TextBox 26"/>
          <p:cNvSpPr txBox="1"/>
          <p:nvPr/>
        </p:nvSpPr>
        <p:spPr>
          <a:xfrm>
            <a:off x="2834640" y="8558784"/>
            <a:ext cx="14630400" cy="502920"/>
          </a:xfrm>
          <a:prstGeom prst="rect">
            <a:avLst/>
          </a:prstGeom>
          <a:noFill/>
        </p:spPr>
        <p:txBody>
          <a:bodyPr wrap="none" lIns="0" rIns="0" tIns="0" bIns="0" anchor="t">
            <a:spAutoFit/>
          </a:bodyPr>
          <a:lstStyle/>
          <a:p>
            <a:pPr algn="l">
              <a:lnSpc>
                <a:spcPts val="3068"/>
              </a:lnSpc>
              <a:spcBef>
                <a:spcPts val="0"/>
              </a:spcBef>
              <a:spcAft>
                <a:spcPts val="0"/>
              </a:spcAft>
            </a:pPr>
            <a:r>
              <a:rPr sz="2600" b="0">
                <a:solidFill>
                  <a:srgbClr val="151A24"/>
                </a:solidFill>
                <a:latin typeface="Inter"/>
              </a:rPr>
              <a:t>x402 brings per-request payments to Stellar APIs.</a:t>
            </a:r>
          </a:p>
        </p:txBody>
      </p:sp>
      <p:sp>
        <p:nvSpPr>
          <p:cNvPr id="28" name="TextBox 27">
            <a:hlinkClick r:id="rId3"/>
          </p:cNvPr>
          <p:cNvSpPr txBox="1"/>
          <p:nvPr/>
        </p:nvSpPr>
        <p:spPr>
          <a:xfrm>
            <a:off x="731520" y="9162288"/>
            <a:ext cx="16824960" cy="219456"/>
          </a:xfrm>
          <a:prstGeom prst="rect">
            <a:avLst/>
          </a:prstGeom>
          <a:noFill/>
        </p:spPr>
        <p:txBody>
          <a:bodyPr wrap="none" lIns="0" rIns="0" tIns="0" bIns="0" anchor="t">
            <a:spAutoFit/>
          </a:bodyPr>
          <a:lstStyle/>
          <a:p>
            <a:pPr algn="l">
              <a:lnSpc>
                <a:spcPts val="1297"/>
              </a:lnSpc>
              <a:spcBef>
                <a:spcPts val="0"/>
              </a:spcBef>
              <a:spcAft>
                <a:spcPts val="0"/>
              </a:spcAft>
            </a:pPr>
            <a:r>
              <a:rPr sz="1100" b="0">
                <a:solidFill>
                  <a:srgbClr val="626977"/>
                </a:solidFill>
                <a:latin typeface="Inter"/>
              </a:rPr>
              <a:t>Initial customer hypothesis; product-market fit and revenue are not yet demonstrated. x402: Stellar Developer Docs.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PITCH  04 / 05</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03 / TECHNICAL WORKFLOW</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6264"/>
              </a:lnSpc>
              <a:spcBef>
                <a:spcPts val="0"/>
              </a:spcBef>
              <a:spcAft>
                <a:spcPts val="0"/>
              </a:spcAft>
            </a:pPr>
            <a:r>
              <a:rPr sz="5800" b="1">
                <a:solidFill>
                  <a:srgbClr val="151A24"/>
                </a:solidFill>
                <a:latin typeface="Manrope"/>
              </a:rPr>
              <a:t>Pay. Refuse. Recover.</a:t>
            </a:r>
          </a:p>
        </p:txBody>
      </p:sp>
      <p:sp>
        <p:nvSpPr>
          <p:cNvPr id="13" name="TextBox 12"/>
          <p:cNvSpPr txBox="1"/>
          <p:nvPr/>
        </p:nvSpPr>
        <p:spPr>
          <a:xfrm>
            <a:off x="777240" y="2962656"/>
            <a:ext cx="16642080" cy="640080"/>
          </a:xfrm>
          <a:prstGeom prst="rect">
            <a:avLst/>
          </a:prstGeom>
          <a:noFill/>
        </p:spPr>
        <p:txBody>
          <a:bodyPr wrap="none" lIns="0" rIns="0" tIns="0" bIns="0" anchor="t">
            <a:spAutoFit/>
          </a:bodyPr>
          <a:lstStyle/>
          <a:p>
            <a:pPr algn="l">
              <a:lnSpc>
                <a:spcPts val="3540"/>
              </a:lnSpc>
              <a:spcBef>
                <a:spcPts val="0"/>
              </a:spcBef>
              <a:spcAft>
                <a:spcPts val="0"/>
              </a:spcAft>
            </a:pPr>
            <a:r>
              <a:rPr sz="3000" b="0">
                <a:solidFill>
                  <a:srgbClr val="626977"/>
                </a:solidFill>
                <a:latin typeface="Inter"/>
              </a:rPr>
              <a:t>Humans configure. Smart accounts enforce. Agents execute.</a:t>
            </a:r>
          </a:p>
        </p:txBody>
      </p:sp>
      <p:sp>
        <p:nvSpPr>
          <p:cNvPr id="14" name="Rounded Rectangle 13"/>
          <p:cNvSpPr/>
          <p:nvPr/>
        </p:nvSpPr>
        <p:spPr>
          <a:xfrm>
            <a:off x="777240" y="4023360"/>
            <a:ext cx="3749039" cy="1463040"/>
          </a:xfrm>
          <a:prstGeom prst="roundRect">
            <a:avLst>
              <a:gd name="adj" fmla="val 6250"/>
            </a:avLst>
          </a:prstGeom>
          <a:solidFill>
            <a:srgbClr val="FFFFFF"/>
          </a:solidFill>
          <a:ln w="12700">
            <a:solidFill>
              <a:srgbClr val="E3E5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05840" y="4288536"/>
            <a:ext cx="3291840" cy="566928"/>
          </a:xfrm>
          <a:prstGeom prst="rect">
            <a:avLst/>
          </a:prstGeom>
          <a:noFill/>
        </p:spPr>
        <p:txBody>
          <a:bodyPr wrap="none" lIns="0" rIns="0" tIns="0" bIns="0" anchor="t">
            <a:spAutoFit/>
          </a:bodyPr>
          <a:lstStyle/>
          <a:p>
            <a:pPr algn="l">
              <a:lnSpc>
                <a:spcPts val="3304"/>
              </a:lnSpc>
              <a:spcBef>
                <a:spcPts val="0"/>
              </a:spcBef>
              <a:spcAft>
                <a:spcPts val="0"/>
              </a:spcAft>
            </a:pPr>
            <a:r>
              <a:rPr sz="2800" b="1">
                <a:solidFill>
                  <a:srgbClr val="151A24"/>
                </a:solidFill>
                <a:latin typeface="Manrope"/>
              </a:rPr>
              <a:t>Owner</a:t>
            </a:r>
          </a:p>
        </p:txBody>
      </p:sp>
      <p:sp>
        <p:nvSpPr>
          <p:cNvPr id="16" name="TextBox 15"/>
          <p:cNvSpPr txBox="1"/>
          <p:nvPr/>
        </p:nvSpPr>
        <p:spPr>
          <a:xfrm>
            <a:off x="1005840" y="4928616"/>
            <a:ext cx="3291840" cy="365760"/>
          </a:xfrm>
          <a:prstGeom prst="rect">
            <a:avLst/>
          </a:prstGeom>
          <a:noFill/>
        </p:spPr>
        <p:txBody>
          <a:bodyPr wrap="none" lIns="0" rIns="0" tIns="0" bIns="0" anchor="t">
            <a:spAutoFit/>
          </a:bodyPr>
          <a:lstStyle/>
          <a:p>
            <a:pPr algn="l">
              <a:lnSpc>
                <a:spcPts val="2360"/>
              </a:lnSpc>
              <a:spcBef>
                <a:spcPts val="0"/>
              </a:spcBef>
              <a:spcAft>
                <a:spcPts val="0"/>
              </a:spcAft>
            </a:pPr>
            <a:r>
              <a:rPr sz="2000" b="0">
                <a:solidFill>
                  <a:srgbClr val="626977"/>
                </a:solidFill>
                <a:latin typeface="Inter"/>
              </a:rPr>
              <a:t>Signs in Freighter</a:t>
            </a:r>
          </a:p>
        </p:txBody>
      </p:sp>
      <p:cxnSp>
        <p:nvCxnSpPr>
          <p:cNvPr id="17" name="Connector 16"/>
          <p:cNvCxnSpPr/>
          <p:nvPr/>
        </p:nvCxnSpPr>
        <p:spPr>
          <a:xfrm>
            <a:off x="4553712" y="4754880"/>
            <a:ext cx="429767" cy="0"/>
          </a:xfrm>
          <a:prstGeom prst="line">
            <a:avLst/>
          </a:prstGeom>
          <a:ln w="19050">
            <a:solidFill>
              <a:srgbClr val="014CFE"/>
            </a:solidFill>
          </a:ln>
          <a:effectLst/>
        </p:spPr>
        <p:style>
          <a:lnRef idx="2">
            <a:schemeClr val="accent1"/>
          </a:lnRef>
          <a:fillRef idx="0">
            <a:schemeClr val="accent1"/>
          </a:fillRef>
          <a:effectRef idx="0">
            <a:schemeClr val="accent1"/>
          </a:effectRef>
          <a:fontRef idx="minor">
            <a:schemeClr val="tx1"/>
          </a:fontRef>
        </p:style>
      </p:cxnSp>
      <p:sp>
        <p:nvSpPr>
          <p:cNvPr id="18" name="Freeform 17"/>
          <p:cNvSpPr/>
          <p:nvPr/>
        </p:nvSpPr>
        <p:spPr>
          <a:xfrm>
            <a:off x="4882895" y="4694529"/>
            <a:ext cx="100584" cy="120701"/>
          </a:xfrm>
          <a:custGeom>
            <a:avLst/>
            <a:gdLst/>
            <a:ahLst/>
            <a:cxnLst/>
            <a:rect l="l" t="t" r="r" b="b"/>
            <a:pathLst>
              <a:path w="100584" h="120701">
                <a:moveTo>
                  <a:pt x="100584" y="60351"/>
                </a:moveTo>
                <a:lnTo>
                  <a:pt x="0" y="0"/>
                </a:lnTo>
                <a:lnTo>
                  <a:pt x="0" y="1207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5120640" y="4023360"/>
            <a:ext cx="3749039" cy="1463040"/>
          </a:xfrm>
          <a:prstGeom prst="roundRect">
            <a:avLst>
              <a:gd name="adj" fmla="val 6250"/>
            </a:avLst>
          </a:prstGeom>
          <a:solidFill>
            <a:srgbClr val="FFFFFF"/>
          </a:solidFill>
          <a:ln w="12700">
            <a:solidFill>
              <a:srgbClr val="E3E5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349240" y="4288536"/>
            <a:ext cx="3291840" cy="566928"/>
          </a:xfrm>
          <a:prstGeom prst="rect">
            <a:avLst/>
          </a:prstGeom>
          <a:noFill/>
        </p:spPr>
        <p:txBody>
          <a:bodyPr wrap="none" lIns="0" rIns="0" tIns="0" bIns="0" anchor="t">
            <a:spAutoFit/>
          </a:bodyPr>
          <a:lstStyle/>
          <a:p>
            <a:pPr algn="l">
              <a:lnSpc>
                <a:spcPts val="3304"/>
              </a:lnSpc>
              <a:spcBef>
                <a:spcPts val="0"/>
              </a:spcBef>
              <a:spcAft>
                <a:spcPts val="0"/>
              </a:spcAft>
            </a:pPr>
            <a:r>
              <a:rPr sz="2800" b="1">
                <a:solidFill>
                  <a:srgbClr val="151A24"/>
                </a:solidFill>
                <a:latin typeface="Manrope"/>
              </a:rPr>
              <a:t>Pool</a:t>
            </a:r>
          </a:p>
        </p:txBody>
      </p:sp>
      <p:sp>
        <p:nvSpPr>
          <p:cNvPr id="21" name="TextBox 20"/>
          <p:cNvSpPr txBox="1"/>
          <p:nvPr/>
        </p:nvSpPr>
        <p:spPr>
          <a:xfrm>
            <a:off x="5349240" y="4928616"/>
            <a:ext cx="3291840" cy="365760"/>
          </a:xfrm>
          <a:prstGeom prst="rect">
            <a:avLst/>
          </a:prstGeom>
          <a:noFill/>
        </p:spPr>
        <p:txBody>
          <a:bodyPr wrap="none" lIns="0" rIns="0" tIns="0" bIns="0" anchor="t">
            <a:spAutoFit/>
          </a:bodyPr>
          <a:lstStyle/>
          <a:p>
            <a:pPr algn="l">
              <a:lnSpc>
                <a:spcPts val="2360"/>
              </a:lnSpc>
              <a:spcBef>
                <a:spcPts val="0"/>
              </a:spcBef>
              <a:spcAft>
                <a:spcPts val="0"/>
              </a:spcAft>
            </a:pPr>
            <a:r>
              <a:rPr sz="2000" b="0">
                <a:solidFill>
                  <a:srgbClr val="626977"/>
                </a:solidFill>
                <a:latin typeface="Inter"/>
              </a:rPr>
              <a:t>Backs agent limits</a:t>
            </a:r>
          </a:p>
        </p:txBody>
      </p:sp>
      <p:cxnSp>
        <p:nvCxnSpPr>
          <p:cNvPr id="22" name="Connector 21"/>
          <p:cNvCxnSpPr/>
          <p:nvPr/>
        </p:nvCxnSpPr>
        <p:spPr>
          <a:xfrm>
            <a:off x="8897112" y="4754880"/>
            <a:ext cx="429768" cy="0"/>
          </a:xfrm>
          <a:prstGeom prst="line">
            <a:avLst/>
          </a:prstGeom>
          <a:ln w="19050">
            <a:solidFill>
              <a:srgbClr val="014CFE"/>
            </a:solidFill>
          </a:ln>
          <a:effectLst/>
        </p:spPr>
        <p:style>
          <a:lnRef idx="2">
            <a:schemeClr val="accent1"/>
          </a:lnRef>
          <a:fillRef idx="0">
            <a:schemeClr val="accent1"/>
          </a:fillRef>
          <a:effectRef idx="0">
            <a:schemeClr val="accent1"/>
          </a:effectRef>
          <a:fontRef idx="minor">
            <a:schemeClr val="tx1"/>
          </a:fontRef>
        </p:style>
      </p:cxnSp>
      <p:sp>
        <p:nvSpPr>
          <p:cNvPr id="23" name="Freeform 22"/>
          <p:cNvSpPr/>
          <p:nvPr/>
        </p:nvSpPr>
        <p:spPr>
          <a:xfrm>
            <a:off x="9226296" y="4694529"/>
            <a:ext cx="100584" cy="120701"/>
          </a:xfrm>
          <a:custGeom>
            <a:avLst/>
            <a:gdLst/>
            <a:ahLst/>
            <a:cxnLst/>
            <a:rect l="l" t="t" r="r" b="b"/>
            <a:pathLst>
              <a:path w="100584" h="120701">
                <a:moveTo>
                  <a:pt x="100584" y="60351"/>
                </a:moveTo>
                <a:lnTo>
                  <a:pt x="0" y="0"/>
                </a:lnTo>
                <a:lnTo>
                  <a:pt x="0" y="1207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9464040" y="4023360"/>
            <a:ext cx="3749039" cy="1463040"/>
          </a:xfrm>
          <a:prstGeom prst="roundRect">
            <a:avLst>
              <a:gd name="adj" fmla="val 6250"/>
            </a:avLst>
          </a:pr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692640" y="4288536"/>
            <a:ext cx="3291840" cy="566928"/>
          </a:xfrm>
          <a:prstGeom prst="rect">
            <a:avLst/>
          </a:prstGeom>
          <a:noFill/>
        </p:spPr>
        <p:txBody>
          <a:bodyPr wrap="none" lIns="0" rIns="0" tIns="0" bIns="0" anchor="t">
            <a:spAutoFit/>
          </a:bodyPr>
          <a:lstStyle/>
          <a:p>
            <a:pPr algn="l">
              <a:lnSpc>
                <a:spcPts val="3304"/>
              </a:lnSpc>
              <a:spcBef>
                <a:spcPts val="0"/>
              </a:spcBef>
              <a:spcAft>
                <a:spcPts val="0"/>
              </a:spcAft>
            </a:pPr>
            <a:r>
              <a:rPr sz="2800" b="1">
                <a:solidFill>
                  <a:srgbClr val="FFFFFF"/>
                </a:solidFill>
                <a:latin typeface="Manrope"/>
              </a:rPr>
              <a:t>Agent account</a:t>
            </a:r>
          </a:p>
        </p:txBody>
      </p:sp>
      <p:sp>
        <p:nvSpPr>
          <p:cNvPr id="26" name="TextBox 25"/>
          <p:cNvSpPr txBox="1"/>
          <p:nvPr/>
        </p:nvSpPr>
        <p:spPr>
          <a:xfrm>
            <a:off x="9692640" y="4928616"/>
            <a:ext cx="3291840" cy="365760"/>
          </a:xfrm>
          <a:prstGeom prst="rect">
            <a:avLst/>
          </a:prstGeom>
          <a:noFill/>
        </p:spPr>
        <p:txBody>
          <a:bodyPr wrap="none" lIns="0" rIns="0" tIns="0" bIns="0" anchor="t">
            <a:spAutoFit/>
          </a:bodyPr>
          <a:lstStyle/>
          <a:p>
            <a:pPr algn="l">
              <a:lnSpc>
                <a:spcPts val="2360"/>
              </a:lnSpc>
              <a:spcBef>
                <a:spcPts val="0"/>
              </a:spcBef>
              <a:spcAft>
                <a:spcPts val="0"/>
              </a:spcAft>
            </a:pPr>
            <a:r>
              <a:rPr sz="2000" b="0">
                <a:solidFill>
                  <a:srgbClr val="FFFFFF"/>
                </a:solidFill>
                <a:latin typeface="Inter"/>
              </a:rPr>
              <a:t>Covenant + verifier</a:t>
            </a:r>
          </a:p>
        </p:txBody>
      </p:sp>
      <p:cxnSp>
        <p:nvCxnSpPr>
          <p:cNvPr id="27" name="Connector 26"/>
          <p:cNvCxnSpPr/>
          <p:nvPr/>
        </p:nvCxnSpPr>
        <p:spPr>
          <a:xfrm>
            <a:off x="13240512" y="4754880"/>
            <a:ext cx="429768" cy="0"/>
          </a:xfrm>
          <a:prstGeom prst="line">
            <a:avLst/>
          </a:prstGeom>
          <a:ln w="19050">
            <a:solidFill>
              <a:srgbClr val="014CFE"/>
            </a:solidFill>
          </a:ln>
          <a:effectLst/>
        </p:spPr>
        <p:style>
          <a:lnRef idx="2">
            <a:schemeClr val="accent1"/>
          </a:lnRef>
          <a:fillRef idx="0">
            <a:schemeClr val="accent1"/>
          </a:fillRef>
          <a:effectRef idx="0">
            <a:schemeClr val="accent1"/>
          </a:effectRef>
          <a:fontRef idx="minor">
            <a:schemeClr val="tx1"/>
          </a:fontRef>
        </p:style>
      </p:cxnSp>
      <p:sp>
        <p:nvSpPr>
          <p:cNvPr id="28" name="Freeform 27"/>
          <p:cNvSpPr/>
          <p:nvPr/>
        </p:nvSpPr>
        <p:spPr>
          <a:xfrm>
            <a:off x="13569696" y="4694529"/>
            <a:ext cx="100584" cy="120701"/>
          </a:xfrm>
          <a:custGeom>
            <a:avLst/>
            <a:gdLst/>
            <a:ahLst/>
            <a:cxnLst/>
            <a:rect l="l" t="t" r="r" b="b"/>
            <a:pathLst>
              <a:path w="100584" h="120701">
                <a:moveTo>
                  <a:pt x="100584" y="60351"/>
                </a:moveTo>
                <a:lnTo>
                  <a:pt x="0" y="0"/>
                </a:lnTo>
                <a:lnTo>
                  <a:pt x="0" y="1207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13807440" y="4023360"/>
            <a:ext cx="3749039" cy="1463040"/>
          </a:xfrm>
          <a:prstGeom prst="roundRect">
            <a:avLst>
              <a:gd name="adj" fmla="val 6250"/>
            </a:avLst>
          </a:prstGeom>
          <a:solidFill>
            <a:srgbClr val="FFFFFF"/>
          </a:solidFill>
          <a:ln w="12700">
            <a:solidFill>
              <a:srgbClr val="E3E5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4036040" y="4288536"/>
            <a:ext cx="3291840" cy="566928"/>
          </a:xfrm>
          <a:prstGeom prst="rect">
            <a:avLst/>
          </a:prstGeom>
          <a:noFill/>
        </p:spPr>
        <p:txBody>
          <a:bodyPr wrap="none" lIns="0" rIns="0" tIns="0" bIns="0" anchor="t">
            <a:spAutoFit/>
          </a:bodyPr>
          <a:lstStyle/>
          <a:p>
            <a:pPr algn="l">
              <a:lnSpc>
                <a:spcPts val="3304"/>
              </a:lnSpc>
              <a:spcBef>
                <a:spcPts val="0"/>
              </a:spcBef>
              <a:spcAft>
                <a:spcPts val="0"/>
              </a:spcAft>
            </a:pPr>
            <a:r>
              <a:rPr sz="2800" b="1">
                <a:solidFill>
                  <a:srgbClr val="151A24"/>
                </a:solidFill>
                <a:latin typeface="Manrope"/>
              </a:rPr>
              <a:t>Provider</a:t>
            </a:r>
          </a:p>
        </p:txBody>
      </p:sp>
      <p:sp>
        <p:nvSpPr>
          <p:cNvPr id="31" name="TextBox 30"/>
          <p:cNvSpPr txBox="1"/>
          <p:nvPr/>
        </p:nvSpPr>
        <p:spPr>
          <a:xfrm>
            <a:off x="14036040" y="4928616"/>
            <a:ext cx="3291840" cy="365760"/>
          </a:xfrm>
          <a:prstGeom prst="rect">
            <a:avLst/>
          </a:prstGeom>
          <a:noFill/>
        </p:spPr>
        <p:txBody>
          <a:bodyPr wrap="none" lIns="0" rIns="0" tIns="0" bIns="0" anchor="t">
            <a:spAutoFit/>
          </a:bodyPr>
          <a:lstStyle/>
          <a:p>
            <a:pPr algn="l">
              <a:lnSpc>
                <a:spcPts val="2360"/>
              </a:lnSpc>
              <a:spcBef>
                <a:spcPts val="0"/>
              </a:spcBef>
              <a:spcAft>
                <a:spcPts val="0"/>
              </a:spcAft>
            </a:pPr>
            <a:r>
              <a:rPr sz="2000" b="0">
                <a:solidFill>
                  <a:srgbClr val="626977"/>
                </a:solidFill>
                <a:latin typeface="Inter"/>
              </a:rPr>
              <a:t>Direct or x402</a:t>
            </a:r>
          </a:p>
        </p:txBody>
      </p:sp>
      <p:sp>
        <p:nvSpPr>
          <p:cNvPr id="32" name="TextBox 31"/>
          <p:cNvSpPr txBox="1"/>
          <p:nvPr/>
        </p:nvSpPr>
        <p:spPr>
          <a:xfrm>
            <a:off x="777240" y="6053328"/>
            <a:ext cx="7315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DEMO / 65 SECONDS</a:t>
            </a:r>
          </a:p>
        </p:txBody>
      </p:sp>
      <p:sp>
        <p:nvSpPr>
          <p:cNvPr id="33" name="TextBox 32"/>
          <p:cNvSpPr txBox="1"/>
          <p:nvPr/>
        </p:nvSpPr>
        <p:spPr>
          <a:xfrm>
            <a:off x="777240" y="6611112"/>
            <a:ext cx="914400" cy="548640"/>
          </a:xfrm>
          <a:prstGeom prst="rect">
            <a:avLst/>
          </a:prstGeom>
          <a:noFill/>
        </p:spPr>
        <p:txBody>
          <a:bodyPr wrap="none" lIns="0" rIns="0" tIns="0" bIns="0" anchor="t">
            <a:spAutoFit/>
          </a:bodyPr>
          <a:lstStyle/>
          <a:p>
            <a:pPr algn="l">
              <a:lnSpc>
                <a:spcPts val="2477"/>
              </a:lnSpc>
              <a:spcBef>
                <a:spcPts val="0"/>
              </a:spcBef>
              <a:spcAft>
                <a:spcPts val="0"/>
              </a:spcAft>
            </a:pPr>
            <a:r>
              <a:rPr sz="2100" b="1">
                <a:solidFill>
                  <a:srgbClr val="167248"/>
                </a:solidFill>
                <a:latin typeface="JetBrains Mono"/>
              </a:rPr>
              <a:t>01</a:t>
            </a:r>
          </a:p>
        </p:txBody>
      </p:sp>
      <p:sp>
        <p:nvSpPr>
          <p:cNvPr id="34" name="TextBox 33"/>
          <p:cNvSpPr txBox="1"/>
          <p:nvPr/>
        </p:nvSpPr>
        <p:spPr>
          <a:xfrm>
            <a:off x="777240" y="7269480"/>
            <a:ext cx="5349240" cy="585216"/>
          </a:xfrm>
          <a:prstGeom prst="rect">
            <a:avLst/>
          </a:prstGeom>
          <a:noFill/>
        </p:spPr>
        <p:txBody>
          <a:bodyPr wrap="none" lIns="0" rIns="0" tIns="0" bIns="0" anchor="t">
            <a:spAutoFit/>
          </a:bodyPr>
          <a:lstStyle/>
          <a:p>
            <a:pPr algn="l">
              <a:lnSpc>
                <a:spcPts val="3540"/>
              </a:lnSpc>
              <a:spcBef>
                <a:spcPts val="0"/>
              </a:spcBef>
              <a:spcAft>
                <a:spcPts val="0"/>
              </a:spcAft>
            </a:pPr>
            <a:r>
              <a:rPr sz="3000" b="1">
                <a:solidFill>
                  <a:srgbClr val="151A24"/>
                </a:solidFill>
                <a:latin typeface="Manrope"/>
              </a:rPr>
              <a:t>Pay an API</a:t>
            </a:r>
          </a:p>
        </p:txBody>
      </p:sp>
      <p:sp>
        <p:nvSpPr>
          <p:cNvPr id="35" name="TextBox 34"/>
          <p:cNvSpPr txBox="1"/>
          <p:nvPr/>
        </p:nvSpPr>
        <p:spPr>
          <a:xfrm>
            <a:off x="777240" y="7936992"/>
            <a:ext cx="5349240" cy="411480"/>
          </a:xfrm>
          <a:prstGeom prst="rect">
            <a:avLst/>
          </a:prstGeom>
          <a:noFill/>
        </p:spPr>
        <p:txBody>
          <a:bodyPr wrap="none" lIns="0" rIns="0" tIns="0" bIns="0" anchor="t">
            <a:spAutoFit/>
          </a:bodyPr>
          <a:lstStyle/>
          <a:p>
            <a:pPr algn="l">
              <a:lnSpc>
                <a:spcPts val="2713"/>
              </a:lnSpc>
              <a:spcBef>
                <a:spcPts val="0"/>
              </a:spcBef>
              <a:spcAft>
                <a:spcPts val="0"/>
              </a:spcAft>
            </a:pPr>
            <a:r>
              <a:rPr sz="2300" b="0">
                <a:solidFill>
                  <a:srgbClr val="626977"/>
                </a:solidFill>
                <a:latin typeface="Inter"/>
              </a:rPr>
              <a:t>0.01 testnet USDC</a:t>
            </a:r>
          </a:p>
        </p:txBody>
      </p:sp>
      <p:sp>
        <p:nvSpPr>
          <p:cNvPr id="36" name="TextBox 35"/>
          <p:cNvSpPr txBox="1"/>
          <p:nvPr/>
        </p:nvSpPr>
        <p:spPr>
          <a:xfrm>
            <a:off x="6492240" y="6611112"/>
            <a:ext cx="914400" cy="548640"/>
          </a:xfrm>
          <a:prstGeom prst="rect">
            <a:avLst/>
          </a:prstGeom>
          <a:noFill/>
        </p:spPr>
        <p:txBody>
          <a:bodyPr wrap="none" lIns="0" rIns="0" tIns="0" bIns="0" anchor="t">
            <a:spAutoFit/>
          </a:bodyPr>
          <a:lstStyle/>
          <a:p>
            <a:pPr algn="l">
              <a:lnSpc>
                <a:spcPts val="2477"/>
              </a:lnSpc>
              <a:spcBef>
                <a:spcPts val="0"/>
              </a:spcBef>
              <a:spcAft>
                <a:spcPts val="0"/>
              </a:spcAft>
            </a:pPr>
            <a:r>
              <a:rPr sz="2100" b="1">
                <a:solidFill>
                  <a:srgbClr val="B83240"/>
                </a:solidFill>
                <a:latin typeface="JetBrains Mono"/>
              </a:rPr>
              <a:t>02</a:t>
            </a:r>
          </a:p>
        </p:txBody>
      </p:sp>
      <p:sp>
        <p:nvSpPr>
          <p:cNvPr id="37" name="TextBox 36"/>
          <p:cNvSpPr txBox="1"/>
          <p:nvPr/>
        </p:nvSpPr>
        <p:spPr>
          <a:xfrm>
            <a:off x="6492240" y="7269480"/>
            <a:ext cx="5349240" cy="585216"/>
          </a:xfrm>
          <a:prstGeom prst="rect">
            <a:avLst/>
          </a:prstGeom>
          <a:noFill/>
        </p:spPr>
        <p:txBody>
          <a:bodyPr wrap="none" lIns="0" rIns="0" tIns="0" bIns="0" anchor="t">
            <a:spAutoFit/>
          </a:bodyPr>
          <a:lstStyle/>
          <a:p>
            <a:pPr algn="l">
              <a:lnSpc>
                <a:spcPts val="3540"/>
              </a:lnSpc>
              <a:spcBef>
                <a:spcPts val="0"/>
              </a:spcBef>
              <a:spcAft>
                <a:spcPts val="0"/>
              </a:spcAft>
            </a:pPr>
            <a:r>
              <a:rPr sz="3000" b="1">
                <a:solidFill>
                  <a:srgbClr val="151A24"/>
                </a:solidFill>
                <a:latin typeface="Manrope"/>
              </a:rPr>
              <a:t>Refuse a payee</a:t>
            </a:r>
          </a:p>
        </p:txBody>
      </p:sp>
      <p:sp>
        <p:nvSpPr>
          <p:cNvPr id="38" name="TextBox 37"/>
          <p:cNvSpPr txBox="1"/>
          <p:nvPr/>
        </p:nvSpPr>
        <p:spPr>
          <a:xfrm>
            <a:off x="6492240" y="7936992"/>
            <a:ext cx="5349240" cy="411480"/>
          </a:xfrm>
          <a:prstGeom prst="rect">
            <a:avLst/>
          </a:prstGeom>
          <a:noFill/>
        </p:spPr>
        <p:txBody>
          <a:bodyPr wrap="none" lIns="0" rIns="0" tIns="0" bIns="0" anchor="t">
            <a:spAutoFit/>
          </a:bodyPr>
          <a:lstStyle/>
          <a:p>
            <a:pPr algn="l">
              <a:lnSpc>
                <a:spcPts val="2713"/>
              </a:lnSpc>
              <a:spcBef>
                <a:spcPts val="0"/>
              </a:spcBef>
              <a:spcAft>
                <a:spcPts val="0"/>
              </a:spcAft>
            </a:pPr>
            <a:r>
              <a:rPr sz="2300" b="0">
                <a:solidFill>
                  <a:srgbClr val="626977"/>
                </a:solidFill>
                <a:latin typeface="Inter"/>
              </a:rPr>
              <a:t>PayeeNotAllowed</a:t>
            </a:r>
          </a:p>
        </p:txBody>
      </p:sp>
      <p:sp>
        <p:nvSpPr>
          <p:cNvPr id="39" name="TextBox 38"/>
          <p:cNvSpPr txBox="1"/>
          <p:nvPr/>
        </p:nvSpPr>
        <p:spPr>
          <a:xfrm>
            <a:off x="12207240" y="6611112"/>
            <a:ext cx="914400" cy="548640"/>
          </a:xfrm>
          <a:prstGeom prst="rect">
            <a:avLst/>
          </a:prstGeom>
          <a:noFill/>
        </p:spPr>
        <p:txBody>
          <a:bodyPr wrap="none" lIns="0" rIns="0" tIns="0" bIns="0" anchor="t">
            <a:spAutoFit/>
          </a:bodyPr>
          <a:lstStyle/>
          <a:p>
            <a:pPr algn="l">
              <a:lnSpc>
                <a:spcPts val="2477"/>
              </a:lnSpc>
              <a:spcBef>
                <a:spcPts val="0"/>
              </a:spcBef>
              <a:spcAft>
                <a:spcPts val="0"/>
              </a:spcAft>
            </a:pPr>
            <a:r>
              <a:rPr sz="2100" b="1">
                <a:solidFill>
                  <a:srgbClr val="014CFE"/>
                </a:solidFill>
                <a:latin typeface="JetBrains Mono"/>
              </a:rPr>
              <a:t>03</a:t>
            </a:r>
          </a:p>
        </p:txBody>
      </p:sp>
      <p:sp>
        <p:nvSpPr>
          <p:cNvPr id="40" name="TextBox 39"/>
          <p:cNvSpPr txBox="1"/>
          <p:nvPr/>
        </p:nvSpPr>
        <p:spPr>
          <a:xfrm>
            <a:off x="12207240" y="7269480"/>
            <a:ext cx="5349240" cy="585216"/>
          </a:xfrm>
          <a:prstGeom prst="rect">
            <a:avLst/>
          </a:prstGeom>
          <a:noFill/>
        </p:spPr>
        <p:txBody>
          <a:bodyPr wrap="none" lIns="0" rIns="0" tIns="0" bIns="0" anchor="t">
            <a:spAutoFit/>
          </a:bodyPr>
          <a:lstStyle/>
          <a:p>
            <a:pPr algn="l">
              <a:lnSpc>
                <a:spcPts val="3540"/>
              </a:lnSpc>
              <a:spcBef>
                <a:spcPts val="0"/>
              </a:spcBef>
              <a:spcAft>
                <a:spcPts val="0"/>
              </a:spcAft>
            </a:pPr>
            <a:r>
              <a:rPr sz="3000" b="1">
                <a:solidFill>
                  <a:srgbClr val="151A24"/>
                </a:solidFill>
                <a:latin typeface="Manrope"/>
              </a:rPr>
              <a:t>Revoke + recover</a:t>
            </a:r>
          </a:p>
        </p:txBody>
      </p:sp>
      <p:sp>
        <p:nvSpPr>
          <p:cNvPr id="41" name="TextBox 40"/>
          <p:cNvSpPr txBox="1"/>
          <p:nvPr/>
        </p:nvSpPr>
        <p:spPr>
          <a:xfrm>
            <a:off x="12207240" y="7936992"/>
            <a:ext cx="5349240" cy="411480"/>
          </a:xfrm>
          <a:prstGeom prst="rect">
            <a:avLst/>
          </a:prstGeom>
          <a:noFill/>
        </p:spPr>
        <p:txBody>
          <a:bodyPr wrap="none" lIns="0" rIns="0" tIns="0" bIns="0" anchor="t">
            <a:spAutoFit/>
          </a:bodyPr>
          <a:lstStyle/>
          <a:p>
            <a:pPr algn="l">
              <a:lnSpc>
                <a:spcPts val="2713"/>
              </a:lnSpc>
              <a:spcBef>
                <a:spcPts val="0"/>
              </a:spcBef>
              <a:spcAft>
                <a:spcPts val="0"/>
              </a:spcAft>
            </a:pPr>
            <a:r>
              <a:rPr sz="2300" b="0">
                <a:solidFill>
                  <a:srgbClr val="626977"/>
                </a:solidFill>
                <a:latin typeface="Inter"/>
              </a:rPr>
              <a:t>Return unused funds</a:t>
            </a:r>
          </a:p>
        </p:txBody>
      </p:sp>
      <p:sp>
        <p:nvSpPr>
          <p:cNvPr id="42" name="TextBox 41">
            <a:hlinkClick r:id="rId3"/>
          </p:cNvPr>
          <p:cNvSpPr txBox="1"/>
          <p:nvPr/>
        </p:nvSpPr>
        <p:spPr>
          <a:xfrm>
            <a:off x="731520" y="9162288"/>
            <a:ext cx="16824960" cy="219456"/>
          </a:xfrm>
          <a:prstGeom prst="rect">
            <a:avLst/>
          </a:prstGeom>
          <a:noFill/>
        </p:spPr>
        <p:txBody>
          <a:bodyPr wrap="none" lIns="0" rIns="0" tIns="0" bIns="0" anchor="t">
            <a:spAutoFit/>
          </a:bodyPr>
          <a:lstStyle/>
          <a:p>
            <a:pPr algn="l">
              <a:lnSpc>
                <a:spcPts val="1297"/>
              </a:lnSpc>
              <a:spcBef>
                <a:spcPts val="0"/>
              </a:spcBef>
              <a:spcAft>
                <a:spcPts val="0"/>
              </a:spcAft>
            </a:pPr>
            <a:r>
              <a:rPr sz="1100" b="0">
                <a:solidFill>
                  <a:srgbClr val="626977"/>
                </a:solidFill>
                <a:latin typeface="Inter"/>
              </a:rPr>
              <a:t>Proof: historical USDC x402 transaction + separate v2 lifecycle with testnet XLM. Refusal was simulated before submission.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Freeform 1"/>
          <p:cNvSpPr/>
          <p:nvPr/>
        </p:nvSpPr>
        <p:spPr>
          <a:xfrm>
            <a:off x="731520" y="457200"/>
            <a:ext cx="290435" cy="243357"/>
          </a:xfrm>
          <a:custGeom>
            <a:avLst/>
            <a:gdLst/>
            <a:ahLst/>
            <a:cxnLst/>
            <a:rect l="l" t="t" r="r" b="b"/>
            <a:pathLst>
              <a:path w="290435" h="243357">
                <a:moveTo>
                  <a:pt x="0" y="132542"/>
                </a:moveTo>
                <a:lnTo>
                  <a:pt x="290435" y="0"/>
                </a:lnTo>
                <a:lnTo>
                  <a:pt x="290435" y="110814"/>
                </a:lnTo>
                <a:lnTo>
                  <a:pt x="0" y="243357"/>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776425" y="623059"/>
            <a:ext cx="194106" cy="199901"/>
          </a:xfrm>
          <a:custGeom>
            <a:avLst/>
            <a:gdLst/>
            <a:ahLst/>
            <a:cxnLst/>
            <a:rect l="l" t="t" r="r" b="b"/>
            <a:pathLst>
              <a:path w="194106" h="199901">
                <a:moveTo>
                  <a:pt x="0" y="87638"/>
                </a:moveTo>
                <a:lnTo>
                  <a:pt x="194106" y="0"/>
                </a:lnTo>
                <a:lnTo>
                  <a:pt x="194106" y="199901"/>
                </a:lnTo>
                <a:close/>
              </a:path>
            </a:pathLst>
          </a:cu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1115568" y="448056"/>
            <a:ext cx="1828800" cy="457200"/>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151A24"/>
                </a:solidFill>
                <a:latin typeface="Manrope"/>
              </a:rPr>
              <a:t>kovan</a:t>
            </a:r>
          </a:p>
        </p:txBody>
      </p:sp>
      <p:sp>
        <p:nvSpPr>
          <p:cNvPr id="5" name="TextBox 4"/>
          <p:cNvSpPr txBox="1"/>
          <p:nvPr/>
        </p:nvSpPr>
        <p:spPr>
          <a:xfrm>
            <a:off x="5669280" y="576072"/>
            <a:ext cx="6949440" cy="274320"/>
          </a:xfrm>
          <a:prstGeom prst="rect">
            <a:avLst/>
          </a:prstGeom>
          <a:noFill/>
        </p:spPr>
        <p:txBody>
          <a:bodyPr wrap="none" lIns="0" rIns="0" tIns="0" bIns="0" anchor="t">
            <a:spAutoFit/>
          </a:bodyPr>
          <a:lstStyle/>
          <a:p>
            <a:pPr algn="ctr">
              <a:lnSpc>
                <a:spcPts val="1652"/>
              </a:lnSpc>
              <a:spcBef>
                <a:spcPts val="0"/>
              </a:spcBef>
              <a:spcAft>
                <a:spcPts val="0"/>
              </a:spcAft>
            </a:pPr>
            <a:r>
              <a:rPr sz="1400" b="0">
                <a:solidFill>
                  <a:srgbClr val="626977"/>
                </a:solidFill>
                <a:latin typeface="JetBrains Mono"/>
              </a:rPr>
              <a:t>HACKMERIDIAN 2026 / LISBON</a:t>
            </a:r>
          </a:p>
        </p:txBody>
      </p:sp>
      <p:sp>
        <p:nvSpPr>
          <p:cNvPr id="6" name="TextBox 5"/>
          <p:cNvSpPr txBox="1"/>
          <p:nvPr/>
        </p:nvSpPr>
        <p:spPr>
          <a:xfrm>
            <a:off x="14630400" y="576072"/>
            <a:ext cx="2926080" cy="274320"/>
          </a:xfrm>
          <a:prstGeom prst="rect">
            <a:avLst/>
          </a:prstGeom>
          <a:noFill/>
        </p:spPr>
        <p:txBody>
          <a:bodyPr wrap="none" lIns="0" rIns="0" tIns="0" bIns="0" anchor="t">
            <a:spAutoFit/>
          </a:bodyPr>
          <a:lstStyle/>
          <a:p>
            <a:pPr algn="r">
              <a:lnSpc>
                <a:spcPts val="1652"/>
              </a:lnSpc>
              <a:spcBef>
                <a:spcPts val="0"/>
              </a:spcBef>
              <a:spcAft>
                <a:spcPts val="0"/>
              </a:spcAft>
            </a:pPr>
            <a:r>
              <a:rPr sz="1400" b="0">
                <a:solidFill>
                  <a:srgbClr val="626977"/>
                </a:solidFill>
                <a:latin typeface="JetBrains Mono"/>
              </a:rPr>
              <a:t>PITCH  05 / 05</a:t>
            </a:r>
          </a:p>
        </p:txBody>
      </p:sp>
      <p:cxnSp>
        <p:nvCxnSpPr>
          <p:cNvPr id="7" name="Connector 6"/>
          <p:cNvCxnSpPr/>
          <p:nvPr/>
        </p:nvCxnSpPr>
        <p:spPr>
          <a:xfrm>
            <a:off x="731520" y="10789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731520" y="9537192"/>
            <a:ext cx="1682496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31520" y="9765792"/>
            <a:ext cx="9601200" cy="219456"/>
          </a:xfrm>
          <a:prstGeom prst="rect">
            <a:avLst/>
          </a:prstGeom>
          <a:noFill/>
        </p:spPr>
        <p:txBody>
          <a:bodyPr wrap="none" lIns="0" rIns="0" tIns="0" bIns="0" anchor="t">
            <a:spAutoFit/>
          </a:bodyPr>
          <a:lstStyle/>
          <a:p>
            <a:pPr algn="l">
              <a:lnSpc>
                <a:spcPts val="1416"/>
              </a:lnSpc>
              <a:spcBef>
                <a:spcPts val="0"/>
              </a:spcBef>
              <a:spcAft>
                <a:spcPts val="0"/>
              </a:spcAft>
            </a:pPr>
            <a:r>
              <a:rPr sz="1200" b="0">
                <a:solidFill>
                  <a:srgbClr val="626977"/>
                </a:solidFill>
                <a:latin typeface="JetBrains Mono"/>
              </a:rPr>
              <a:t>STELLAR TESTNET · HACKATHON PROTOTYPE</a:t>
            </a:r>
          </a:p>
        </p:txBody>
      </p:sp>
      <p:pic>
        <p:nvPicPr>
          <p:cNvPr id="10" name="Picture 9" descr="hackmeridian-dark.png"/>
          <p:cNvPicPr>
            <a:picLocks noChangeAspect="1"/>
          </p:cNvPicPr>
          <p:nvPr/>
        </p:nvPicPr>
        <p:blipFill>
          <a:blip r:embed="rId2"/>
          <a:stretch>
            <a:fillRect/>
          </a:stretch>
        </p:blipFill>
        <p:spPr>
          <a:xfrm>
            <a:off x="15179040" y="9738360"/>
            <a:ext cx="2377440" cy="414223"/>
          </a:xfrm>
          <a:prstGeom prst="rect">
            <a:avLst/>
          </a:prstGeom>
        </p:spPr>
      </p:pic>
      <p:sp>
        <p:nvSpPr>
          <p:cNvPr id="11" name="TextBox 10"/>
          <p:cNvSpPr txBox="1"/>
          <p:nvPr/>
        </p:nvSpPr>
        <p:spPr>
          <a:xfrm>
            <a:off x="731520" y="1417320"/>
            <a:ext cx="1645920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04 / THE TEAM</a:t>
            </a:r>
          </a:p>
        </p:txBody>
      </p:sp>
      <p:sp>
        <p:nvSpPr>
          <p:cNvPr id="12" name="TextBox 11"/>
          <p:cNvSpPr txBox="1"/>
          <p:nvPr/>
        </p:nvSpPr>
        <p:spPr>
          <a:xfrm>
            <a:off x="731520" y="1892807"/>
            <a:ext cx="16824960" cy="1508760"/>
          </a:xfrm>
          <a:prstGeom prst="rect">
            <a:avLst/>
          </a:prstGeom>
          <a:noFill/>
        </p:spPr>
        <p:txBody>
          <a:bodyPr wrap="none" lIns="0" rIns="0" tIns="0" bIns="0" anchor="t">
            <a:spAutoFit/>
          </a:bodyPr>
          <a:lstStyle/>
          <a:p>
            <a:pPr algn="l">
              <a:lnSpc>
                <a:spcPts val="5616"/>
              </a:lnSpc>
              <a:spcBef>
                <a:spcPts val="0"/>
              </a:spcBef>
              <a:spcAft>
                <a:spcPts val="0"/>
              </a:spcAft>
            </a:pPr>
            <a:r>
              <a:rPr sz="5200" b="1">
                <a:solidFill>
                  <a:srgbClr val="151A24"/>
                </a:solidFill>
                <a:latin typeface="Manrope"/>
              </a:rPr>
              <a:t>Built at HackMeridian.</a:t>
            </a:r>
          </a:p>
        </p:txBody>
      </p:sp>
      <p:sp>
        <p:nvSpPr>
          <p:cNvPr id="13" name="TextBox 12"/>
          <p:cNvSpPr txBox="1"/>
          <p:nvPr/>
        </p:nvSpPr>
        <p:spPr>
          <a:xfrm>
            <a:off x="777240" y="2999232"/>
            <a:ext cx="16459200" cy="640080"/>
          </a:xfrm>
          <a:prstGeom prst="rect">
            <a:avLst/>
          </a:prstGeom>
          <a:noFill/>
        </p:spPr>
        <p:txBody>
          <a:bodyPr wrap="none" lIns="0" rIns="0" tIns="0" bIns="0" anchor="t">
            <a:spAutoFit/>
          </a:bodyPr>
          <a:lstStyle/>
          <a:p>
            <a:pPr algn="l">
              <a:lnSpc>
                <a:spcPts val="4011"/>
              </a:lnSpc>
              <a:spcBef>
                <a:spcPts val="0"/>
              </a:spcBef>
              <a:spcAft>
                <a:spcPts val="0"/>
              </a:spcAft>
            </a:pPr>
            <a:r>
              <a:rPr sz="3400" b="0">
                <a:solidFill>
                  <a:srgbClr val="626977"/>
                </a:solidFill>
                <a:latin typeface="Inter"/>
              </a:rPr>
              <a:t>Agent autonomy. Human control.</a:t>
            </a:r>
          </a:p>
        </p:txBody>
      </p:sp>
      <p:sp>
        <p:nvSpPr>
          <p:cNvPr id="14" name="TextBox 13"/>
          <p:cNvSpPr txBox="1"/>
          <p:nvPr/>
        </p:nvSpPr>
        <p:spPr>
          <a:xfrm>
            <a:off x="777240" y="4325112"/>
            <a:ext cx="8869680" cy="274320"/>
          </a:xfrm>
          <a:prstGeom prst="rect">
            <a:avLst/>
          </a:prstGeom>
          <a:noFill/>
        </p:spPr>
        <p:txBody>
          <a:bodyPr wrap="none" lIns="0" rIns="0" tIns="0" bIns="0" anchor="t">
            <a:spAutoFit/>
          </a:bodyPr>
          <a:lstStyle/>
          <a:p>
            <a:pPr algn="l">
              <a:lnSpc>
                <a:spcPts val="1652"/>
              </a:lnSpc>
              <a:spcBef>
                <a:spcPts val="0"/>
              </a:spcBef>
              <a:spcAft>
                <a:spcPts val="0"/>
              </a:spcAft>
            </a:pPr>
            <a:r>
              <a:rPr sz="1400" b="1">
                <a:solidFill>
                  <a:srgbClr val="014CFE"/>
                </a:solidFill>
                <a:latin typeface="JetBrains Mono"/>
              </a:rPr>
              <a:t>TEAM / ADD NAMES AND ROLES</a:t>
            </a:r>
          </a:p>
        </p:txBody>
      </p:sp>
      <p:sp>
        <p:nvSpPr>
          <p:cNvPr id="15" name="TextBox 14"/>
          <p:cNvSpPr txBox="1"/>
          <p:nvPr/>
        </p:nvSpPr>
        <p:spPr>
          <a:xfrm>
            <a:off x="777240" y="4910328"/>
            <a:ext cx="8001000" cy="548640"/>
          </a:xfrm>
          <a:prstGeom prst="rect">
            <a:avLst/>
          </a:prstGeom>
          <a:noFill/>
        </p:spPr>
        <p:txBody>
          <a:bodyPr wrap="none" lIns="0" rIns="0" tIns="0" bIns="0" anchor="t">
            <a:spAutoFit/>
          </a:bodyPr>
          <a:lstStyle/>
          <a:p>
            <a:pPr algn="l">
              <a:lnSpc>
                <a:spcPts val="3540"/>
              </a:lnSpc>
              <a:spcBef>
                <a:spcPts val="0"/>
              </a:spcBef>
              <a:spcAft>
                <a:spcPts val="0"/>
              </a:spcAft>
            </a:pPr>
            <a:r>
              <a:rPr sz="3000" b="1">
                <a:solidFill>
                  <a:srgbClr val="A3A8B1"/>
                </a:solidFill>
                <a:latin typeface="Manrope"/>
              </a:rPr>
              <a:t>Name / role</a:t>
            </a:r>
          </a:p>
        </p:txBody>
      </p:sp>
      <p:cxnSp>
        <p:nvCxnSpPr>
          <p:cNvPr id="16" name="Connector 15"/>
          <p:cNvCxnSpPr/>
          <p:nvPr/>
        </p:nvCxnSpPr>
        <p:spPr>
          <a:xfrm>
            <a:off x="777240" y="5669280"/>
            <a:ext cx="795528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77240" y="6035040"/>
            <a:ext cx="8001000" cy="548640"/>
          </a:xfrm>
          <a:prstGeom prst="rect">
            <a:avLst/>
          </a:prstGeom>
          <a:noFill/>
        </p:spPr>
        <p:txBody>
          <a:bodyPr wrap="none" lIns="0" rIns="0" tIns="0" bIns="0" anchor="t">
            <a:spAutoFit/>
          </a:bodyPr>
          <a:lstStyle/>
          <a:p>
            <a:pPr algn="l">
              <a:lnSpc>
                <a:spcPts val="3540"/>
              </a:lnSpc>
              <a:spcBef>
                <a:spcPts val="0"/>
              </a:spcBef>
              <a:spcAft>
                <a:spcPts val="0"/>
              </a:spcAft>
            </a:pPr>
            <a:r>
              <a:rPr sz="3000" b="1">
                <a:solidFill>
                  <a:srgbClr val="A3A8B1"/>
                </a:solidFill>
                <a:latin typeface="Manrope"/>
              </a:rPr>
              <a:t>Name / role</a:t>
            </a:r>
          </a:p>
        </p:txBody>
      </p:sp>
      <p:cxnSp>
        <p:nvCxnSpPr>
          <p:cNvPr id="18" name="Connector 17"/>
          <p:cNvCxnSpPr/>
          <p:nvPr/>
        </p:nvCxnSpPr>
        <p:spPr>
          <a:xfrm>
            <a:off x="777240" y="6793992"/>
            <a:ext cx="795528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77240" y="7159752"/>
            <a:ext cx="8001000" cy="548640"/>
          </a:xfrm>
          <a:prstGeom prst="rect">
            <a:avLst/>
          </a:prstGeom>
          <a:noFill/>
        </p:spPr>
        <p:txBody>
          <a:bodyPr wrap="none" lIns="0" rIns="0" tIns="0" bIns="0" anchor="t">
            <a:spAutoFit/>
          </a:bodyPr>
          <a:lstStyle/>
          <a:p>
            <a:pPr algn="l">
              <a:lnSpc>
                <a:spcPts val="3540"/>
              </a:lnSpc>
              <a:spcBef>
                <a:spcPts val="0"/>
              </a:spcBef>
              <a:spcAft>
                <a:spcPts val="0"/>
              </a:spcAft>
            </a:pPr>
            <a:r>
              <a:rPr sz="3000" b="1">
                <a:solidFill>
                  <a:srgbClr val="A3A8B1"/>
                </a:solidFill>
                <a:latin typeface="Manrope"/>
              </a:rPr>
              <a:t>Name / role</a:t>
            </a:r>
          </a:p>
        </p:txBody>
      </p:sp>
      <p:cxnSp>
        <p:nvCxnSpPr>
          <p:cNvPr id="20" name="Connector 19"/>
          <p:cNvCxnSpPr/>
          <p:nvPr/>
        </p:nvCxnSpPr>
        <p:spPr>
          <a:xfrm>
            <a:off x="777240" y="7918704"/>
            <a:ext cx="7955280" cy="0"/>
          </a:xfrm>
          <a:prstGeom prst="line">
            <a:avLst/>
          </a:prstGeom>
          <a:ln w="12700">
            <a:solidFill>
              <a:srgbClr val="E3E5E9"/>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77240" y="8458200"/>
            <a:ext cx="8503920" cy="393192"/>
          </a:xfrm>
          <a:prstGeom prst="rect">
            <a:avLst/>
          </a:prstGeom>
          <a:noFill/>
        </p:spPr>
        <p:txBody>
          <a:bodyPr wrap="none" lIns="0" rIns="0" tIns="0" bIns="0" anchor="t">
            <a:spAutoFit/>
          </a:bodyPr>
          <a:lstStyle/>
          <a:p>
            <a:pPr algn="l">
              <a:lnSpc>
                <a:spcPts val="2477"/>
              </a:lnSpc>
              <a:spcBef>
                <a:spcPts val="0"/>
              </a:spcBef>
              <a:spcAft>
                <a:spcPts val="0"/>
              </a:spcAft>
            </a:pPr>
            <a:r>
              <a:rPr sz="2100" b="0">
                <a:solidFill>
                  <a:srgbClr val="626977"/>
                </a:solidFill>
                <a:latin typeface="Inter"/>
              </a:rPr>
              <a:t>Contracts · SDK · agent tooling · interface</a:t>
            </a:r>
          </a:p>
        </p:txBody>
      </p:sp>
      <p:sp>
        <p:nvSpPr>
          <p:cNvPr id="22" name="Rounded Rectangle 21"/>
          <p:cNvSpPr/>
          <p:nvPr/>
        </p:nvSpPr>
        <p:spPr>
          <a:xfrm>
            <a:off x="9784080" y="4297680"/>
            <a:ext cx="7772400" cy="4572000"/>
          </a:xfrm>
          <a:prstGeom prst="roundRect">
            <a:avLst>
              <a:gd name="adj" fmla="val 2400"/>
            </a:avLst>
          </a:prstGeom>
          <a:solidFill>
            <a:srgbClr val="014CF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Freeform 22"/>
          <p:cNvSpPr/>
          <p:nvPr/>
        </p:nvSpPr>
        <p:spPr>
          <a:xfrm>
            <a:off x="16093440" y="4645152"/>
            <a:ext cx="471957" cy="395455"/>
          </a:xfrm>
          <a:custGeom>
            <a:avLst/>
            <a:gdLst/>
            <a:ahLst/>
            <a:cxnLst/>
            <a:rect l="l" t="t" r="r" b="b"/>
            <a:pathLst>
              <a:path w="471957" h="395455">
                <a:moveTo>
                  <a:pt x="0" y="215381"/>
                </a:moveTo>
                <a:lnTo>
                  <a:pt x="471957" y="0"/>
                </a:lnTo>
                <a:lnTo>
                  <a:pt x="471957" y="180073"/>
                </a:lnTo>
                <a:lnTo>
                  <a:pt x="0" y="395455"/>
                </a:lnTo>
                <a:close/>
              </a:path>
            </a:pathLst>
          </a:cu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Freeform 23"/>
          <p:cNvSpPr/>
          <p:nvPr/>
        </p:nvSpPr>
        <p:spPr>
          <a:xfrm>
            <a:off x="16166410" y="4914673"/>
            <a:ext cx="315423" cy="324839"/>
          </a:xfrm>
          <a:custGeom>
            <a:avLst/>
            <a:gdLst/>
            <a:ahLst/>
            <a:cxnLst/>
            <a:rect l="l" t="t" r="r" b="b"/>
            <a:pathLst>
              <a:path w="315423" h="324839">
                <a:moveTo>
                  <a:pt x="0" y="142411"/>
                </a:moveTo>
                <a:lnTo>
                  <a:pt x="315423" y="0"/>
                </a:lnTo>
                <a:lnTo>
                  <a:pt x="315423" y="324839"/>
                </a:lnTo>
                <a:close/>
              </a:path>
            </a:pathLst>
          </a:cu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213848" y="5010912"/>
            <a:ext cx="6858000" cy="1463040"/>
          </a:xfrm>
          <a:prstGeom prst="rect">
            <a:avLst/>
          </a:prstGeom>
          <a:noFill/>
        </p:spPr>
        <p:txBody>
          <a:bodyPr wrap="none" lIns="0" rIns="0" tIns="0" bIns="0" anchor="t">
            <a:spAutoFit/>
          </a:bodyPr>
          <a:lstStyle/>
          <a:p>
            <a:pPr algn="l">
              <a:lnSpc>
                <a:spcPts val="4745"/>
              </a:lnSpc>
              <a:spcBef>
                <a:spcPts val="0"/>
              </a:spcBef>
              <a:spcAft>
                <a:spcPts val="0"/>
              </a:spcAft>
            </a:pPr>
            <a:r>
              <a:rPr sz="4200" b="1">
                <a:solidFill>
                  <a:srgbClr val="FFFFFF"/>
                </a:solidFill>
                <a:latin typeface="Manrope"/>
              </a:rPr>
              <a:t>Try the bounded</a:t>
            </a:r>
          </a:p>
          <a:p>
            <a:pPr algn="l">
              <a:lnSpc>
                <a:spcPts val="4745"/>
              </a:lnSpc>
              <a:spcBef>
                <a:spcPts val="0"/>
              </a:spcBef>
              <a:spcAft>
                <a:spcPts val="0"/>
              </a:spcAft>
            </a:pPr>
            <a:r>
              <a:rPr sz="4200" b="1">
                <a:solidFill>
                  <a:srgbClr val="FFFFFF"/>
                </a:solidFill>
                <a:latin typeface="Manrope"/>
              </a:rPr>
              <a:t>spending loop.</a:t>
            </a:r>
          </a:p>
        </p:txBody>
      </p:sp>
      <p:sp>
        <p:nvSpPr>
          <p:cNvPr id="26" name="TextBox 25">
            <a:hlinkClick r:id="rId3"/>
          </p:cNvPr>
          <p:cNvSpPr txBox="1"/>
          <p:nvPr/>
        </p:nvSpPr>
        <p:spPr>
          <a:xfrm>
            <a:off x="10213848" y="7013448"/>
            <a:ext cx="6839712" cy="530352"/>
          </a:xfrm>
          <a:prstGeom prst="rect">
            <a:avLst/>
          </a:prstGeom>
          <a:noFill/>
        </p:spPr>
        <p:txBody>
          <a:bodyPr wrap="none" lIns="0" rIns="0" tIns="0" bIns="0" anchor="t">
            <a:spAutoFit/>
          </a:bodyPr>
          <a:lstStyle/>
          <a:p>
            <a:pPr algn="l">
              <a:lnSpc>
                <a:spcPts val="3186"/>
              </a:lnSpc>
              <a:spcBef>
                <a:spcPts val="0"/>
              </a:spcBef>
              <a:spcAft>
                <a:spcPts val="0"/>
              </a:spcAft>
            </a:pPr>
            <a:r>
              <a:rPr sz="2700" b="1">
                <a:solidFill>
                  <a:srgbClr val="FFFFFF"/>
                </a:solidFill>
                <a:latin typeface="Inter"/>
              </a:rPr>
              <a:t>kovan-protocol.vercel.app</a:t>
            </a:r>
          </a:p>
        </p:txBody>
      </p:sp>
      <p:sp>
        <p:nvSpPr>
          <p:cNvPr id="27" name="TextBox 26">
            <a:hlinkClick r:id="rId4"/>
          </p:cNvPr>
          <p:cNvSpPr txBox="1"/>
          <p:nvPr/>
        </p:nvSpPr>
        <p:spPr>
          <a:xfrm>
            <a:off x="10213848" y="7744968"/>
            <a:ext cx="6839712" cy="457200"/>
          </a:xfrm>
          <a:prstGeom prst="rect">
            <a:avLst/>
          </a:prstGeom>
          <a:noFill/>
        </p:spPr>
        <p:txBody>
          <a:bodyPr wrap="none" lIns="0" rIns="0" tIns="0" bIns="0" anchor="t">
            <a:spAutoFit/>
          </a:bodyPr>
          <a:lstStyle/>
          <a:p>
            <a:pPr algn="l">
              <a:lnSpc>
                <a:spcPts val="2477"/>
              </a:lnSpc>
              <a:spcBef>
                <a:spcPts val="0"/>
              </a:spcBef>
              <a:spcAft>
                <a:spcPts val="0"/>
              </a:spcAft>
            </a:pPr>
            <a:r>
              <a:rPr sz="2100" b="0">
                <a:solidFill>
                  <a:srgbClr val="FFFFFF"/>
                </a:solidFill>
                <a:latin typeface="Inter"/>
              </a:rPr>
              <a:t>github.com/kovan-protocol/kovan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Kovan — Agent autonomy. Human control.</dc:title>
  <dc:subject>HackMeridian 2026 · Agents that spend</dc:subject>
  <dc:creator>Kovan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